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Slab"/>
      <p:regular r:id="rId12"/>
      <p:bold r:id="rId13"/>
    </p:embeddedFon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bold.fntdata"/><Relationship Id="rId12" Type="http://schemas.openxmlformats.org/officeDocument/2006/relationships/font" Target="fonts/RobotoSlab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3ea0ea6f5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3ea0ea6f5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Fitness = how easily an organism can reproduce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fcc73537f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fcc73537f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Fitness = how easily an organism can reproduce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fcc73537f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fcc73537f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Fitness = how easily an organism can reproduce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fcc73537f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fcc73537f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Fitness = how easily an organism can reproduce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3ea0ea6f5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3ea0ea6f5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3"/>
          <p:cNvGrpSpPr/>
          <p:nvPr/>
        </p:nvGrpSpPr>
        <p:grpSpPr>
          <a:xfrm>
            <a:off x="204321" y="3695547"/>
            <a:ext cx="783162" cy="592287"/>
            <a:chOff x="999536" y="3806450"/>
            <a:chExt cx="385092" cy="340219"/>
          </a:xfrm>
        </p:grpSpPr>
        <p:sp>
          <p:nvSpPr>
            <p:cNvPr id="86" name="Google Shape;86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1271692" y="3806451"/>
              <a:ext cx="112936" cy="198616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0" y="4795800"/>
            <a:ext cx="1586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By: Matija Benko</a:t>
            </a:r>
            <a:endParaRPr sz="12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57800" y="556050"/>
            <a:ext cx="7628400" cy="38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1591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950">
                <a:solidFill>
                  <a:schemeClr val="dk2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</a:rPr>
              <a:t>Adaptation Through Natural Selection - Changes in Environmental Conditions and Extinctions (47-51)</a:t>
            </a:r>
            <a:endParaRPr sz="4950">
              <a:solidFill>
                <a:schemeClr val="dk2"/>
              </a:solidFill>
              <a:highlight>
                <a:schemeClr val="lt1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13"/>
          <p:cNvSpPr/>
          <p:nvPr/>
        </p:nvSpPr>
        <p:spPr>
          <a:xfrm rot="-5400000">
            <a:off x="8132550" y="4132050"/>
            <a:ext cx="1001400" cy="1021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125700" y="943075"/>
            <a:ext cx="72600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Charles Darwin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theory of evolution through natural selection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Journey on HMS Beagle[found </a:t>
            </a:r>
            <a:r>
              <a:rPr lang="en" sz="2300"/>
              <a:t>diverse</a:t>
            </a:r>
            <a:r>
              <a:rPr lang="en" sz="2300"/>
              <a:t> species and extinct species]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 u="sng"/>
              <a:t>1859:</a:t>
            </a:r>
            <a:r>
              <a:rPr lang="en" sz="2300"/>
              <a:t>“The Origin of Species by Means of Natural Selection”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Organisms reproduce diverse offspring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Most offspring will die, while some survive to reproduce</a:t>
            </a:r>
            <a:endParaRPr sz="2300"/>
          </a:p>
        </p:txBody>
      </p:sp>
      <p:sp>
        <p:nvSpPr>
          <p:cNvPr id="97" name="Google Shape;97;p14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400" u="sng">
                <a:latin typeface="Georgia"/>
                <a:ea typeface="Georgia"/>
                <a:cs typeface="Georgia"/>
                <a:sym typeface="Georgia"/>
              </a:rPr>
              <a:t>Adaptation Through Natural Selection</a:t>
            </a:r>
            <a:endParaRPr b="1" i="1" sz="34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98" name="Google Shape;98;p14"/>
          <p:cNvPicPr preferRelativeResize="0"/>
          <p:nvPr/>
        </p:nvPicPr>
        <p:blipFill rotWithShape="1">
          <a:blip r:embed="rId3">
            <a:alphaModFix/>
          </a:blip>
          <a:srcRect b="0" l="1146" r="0" t="0"/>
          <a:stretch/>
        </p:blipFill>
        <p:spPr>
          <a:xfrm>
            <a:off x="7189619" y="1210950"/>
            <a:ext cx="1883175" cy="2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125700" y="943075"/>
            <a:ext cx="72600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Animals cannot respond to too big of a change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Either die out or adapt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Adaptability</a:t>
            </a:r>
            <a:r>
              <a:rPr lang="en" sz="2300"/>
              <a:t> of a species to change depends on how much, and how fast, change happens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Birds eating nuts</a:t>
            </a:r>
            <a:endParaRPr sz="2300"/>
          </a:p>
          <a:p>
            <a:pPr indent="-374650" lvl="0" marL="13716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Slowly harder nuts =&gt; birds have </a:t>
            </a:r>
            <a:r>
              <a:rPr lang="en" sz="2300"/>
              <a:t>strong</a:t>
            </a:r>
            <a:r>
              <a:rPr lang="en" sz="2300"/>
              <a:t> beaks</a:t>
            </a:r>
            <a:endParaRPr sz="2300"/>
          </a:p>
          <a:p>
            <a:pPr indent="-374650" lvl="0" marL="13716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/>
              <a:t>Suddenly all super hard nuts =&gt; birds can’t crack nuts</a:t>
            </a:r>
            <a:endParaRPr sz="2300"/>
          </a:p>
        </p:txBody>
      </p:sp>
      <p:sp>
        <p:nvSpPr>
          <p:cNvPr id="104" name="Google Shape;104;p15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400" u="sng">
                <a:latin typeface="Georgia"/>
                <a:ea typeface="Georgia"/>
                <a:cs typeface="Georgia"/>
                <a:sym typeface="Georgia"/>
              </a:rPr>
              <a:t>Adapting</a:t>
            </a:r>
            <a:r>
              <a:rPr b="1" i="1" lang="en" sz="3400" u="sng">
                <a:latin typeface="Georgia"/>
                <a:ea typeface="Georgia"/>
                <a:cs typeface="Georgia"/>
                <a:sym typeface="Georgia"/>
              </a:rPr>
              <a:t> to a Changing Environment</a:t>
            </a:r>
            <a:endParaRPr b="1" i="1" sz="34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Cornell Lab of Ornithology—Home | Birds, Cornell Lab of ..." id="105" name="Google Shape;10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1075" y="1612950"/>
            <a:ext cx="17907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Nut Button Toy - When Memes Become Reality | Meme Gag Gift for him  Boyfriend Husband Friend | Hilarious Funny Prank Buzzer for Holiday &amp;  Christmas ..." id="106" name="Google Shape;10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1300" y="3220950"/>
            <a:ext cx="1514475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125700" y="943075"/>
            <a:ext cx="72600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 u="sng">
                <a:solidFill>
                  <a:schemeClr val="accent3"/>
                </a:solidFill>
              </a:rPr>
              <a:t>Gene flow:</a:t>
            </a:r>
            <a:r>
              <a:rPr lang="en" sz="2300"/>
              <a:t> different populations of the same species mix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 u="sng">
                <a:solidFill>
                  <a:schemeClr val="accent3"/>
                </a:solidFill>
              </a:rPr>
              <a:t>Genetic Drift:</a:t>
            </a:r>
            <a:r>
              <a:rPr lang="en" sz="2300"/>
              <a:t> mutation in genotypes among small populations of a species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low genetic variation is correlated to increased disease risk and low fertility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Cheetah populations and genetic diversity dropped so much that every cheetah is identical</a:t>
            </a:r>
            <a:endParaRPr sz="2300"/>
          </a:p>
        </p:txBody>
      </p:sp>
      <p:sp>
        <p:nvSpPr>
          <p:cNvPr id="112" name="Google Shape;112;p16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500" u="sng">
                <a:latin typeface="Georgia"/>
                <a:ea typeface="Georgia"/>
                <a:cs typeface="Georgia"/>
                <a:sym typeface="Georgia"/>
              </a:rPr>
              <a:t>Nonadaptive Evolutionary Processes</a:t>
            </a:r>
            <a:endParaRPr b="1" i="1" sz="35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13" name="Google Shape;113;p16"/>
          <p:cNvPicPr preferRelativeResize="0"/>
          <p:nvPr/>
        </p:nvPicPr>
        <p:blipFill rotWithShape="1">
          <a:blip r:embed="rId3">
            <a:alphaModFix/>
          </a:blip>
          <a:srcRect b="3837" l="2333" r="6141" t="1644"/>
          <a:stretch/>
        </p:blipFill>
        <p:spPr>
          <a:xfrm>
            <a:off x="6616650" y="3028350"/>
            <a:ext cx="2477849" cy="19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idx="1" type="body"/>
          </p:nvPr>
        </p:nvSpPr>
        <p:spPr>
          <a:xfrm>
            <a:off x="125700" y="943075"/>
            <a:ext cx="65958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an adaptation can take centuries or millennia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3 things affect pace of adaptation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Rate of change in environment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Genetic variation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Population size</a:t>
            </a:r>
            <a:endParaRPr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" sz="2300"/>
              <a:t>Smaller populations undergo nonadaptive mechanisms</a:t>
            </a:r>
            <a:endParaRPr sz="2300"/>
          </a:p>
        </p:txBody>
      </p:sp>
      <p:sp>
        <p:nvSpPr>
          <p:cNvPr id="119" name="Google Shape;119;p17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500" u="sng">
                <a:latin typeface="Georgia"/>
                <a:ea typeface="Georgia"/>
                <a:cs typeface="Georgia"/>
                <a:sym typeface="Georgia"/>
              </a:rPr>
              <a:t>The Pace of Evolution</a:t>
            </a:r>
            <a:endParaRPr b="1" i="1" sz="35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0" name="Google Shape;12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7375" y="1410900"/>
            <a:ext cx="3034476" cy="304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0"/>
              <a:t>Thank You!</a:t>
            </a:r>
            <a:endParaRPr sz="15500"/>
          </a:p>
        </p:txBody>
      </p:sp>
      <p:pic>
        <p:nvPicPr>
          <p:cNvPr id="126" name="Google Shape;1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4750" y="2228250"/>
            <a:ext cx="2728050" cy="272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72B5E3"/>
      </a:dk1>
      <a:lt1>
        <a:srgbClr val="FFFFFF"/>
      </a:lt1>
      <a:dk2>
        <a:srgbClr val="000000"/>
      </a:dk2>
      <a:lt2>
        <a:srgbClr val="3A728B"/>
      </a:lt2>
      <a:accent1>
        <a:srgbClr val="696C7E"/>
      </a:accent1>
      <a:accent2>
        <a:srgbClr val="DEBFCF"/>
      </a:accent2>
      <a:accent3>
        <a:srgbClr val="2D7F84"/>
      </a:accent3>
      <a:accent4>
        <a:srgbClr val="1FAFDC"/>
      </a:accent4>
      <a:accent5>
        <a:srgbClr val="2F8961"/>
      </a:accent5>
      <a:accent6>
        <a:srgbClr val="CFBFD2"/>
      </a:accent6>
      <a:hlink>
        <a:srgbClr val="7F67B8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
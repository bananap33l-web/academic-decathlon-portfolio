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Slab"/>
      <p:regular r:id="rId12"/>
      <p:bold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992aa929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992aa929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f9a02cccc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f9a02cccc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f9a02cccc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f9a02cccc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f9a02cccc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f9a02cccc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3ea0ea6f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3ea0ea6f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>
            <a:off x="204321" y="3695547"/>
            <a:ext cx="783162" cy="592287"/>
            <a:chOff x="999536" y="3806450"/>
            <a:chExt cx="385092" cy="340219"/>
          </a:xfrm>
        </p:grpSpPr>
        <p:sp>
          <p:nvSpPr>
            <p:cNvPr id="86" name="Google Shape;86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90150" y="-436050"/>
            <a:ext cx="85638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591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5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The Renaissance in Northern Europe - Rococo, Neoclassicism, and Romanticism (20-23)</a:t>
            </a:r>
            <a:endParaRPr sz="5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3"/>
          <p:cNvSpPr/>
          <p:nvPr/>
        </p:nvSpPr>
        <p:spPr>
          <a:xfrm rot="-5400000">
            <a:off x="8132550" y="4132050"/>
            <a:ext cx="1001400" cy="1021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2517525" y="981700"/>
            <a:ext cx="3524400" cy="1187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125700" y="943075"/>
            <a:ext cx="72600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Smol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More realistic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Oil paint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@ </a:t>
            </a:r>
            <a:r>
              <a:rPr b="1" lang="en" sz="2300"/>
              <a:t>15th cent.</a:t>
            </a:r>
            <a:r>
              <a:rPr lang="en" sz="2300"/>
              <a:t>:Gothic &amp; less influenced by classics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@ </a:t>
            </a:r>
            <a:r>
              <a:rPr b="1" lang="en" sz="2300"/>
              <a:t>16th cent.</a:t>
            </a:r>
            <a:r>
              <a:rPr lang="en" sz="2300"/>
              <a:t>: more aware of italians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Matthias Grünewald: Religious scenes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Albrecht Dürer: naturalistic detail [north] &amp; theoretical[South]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Hans Holbein the Younger: Henry VIII</a:t>
            </a:r>
            <a:endParaRPr sz="2300"/>
          </a:p>
        </p:txBody>
      </p:sp>
      <p:sp>
        <p:nvSpPr>
          <p:cNvPr id="98" name="Google Shape;98;p14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400" u="sng">
                <a:latin typeface="Georgia"/>
                <a:ea typeface="Georgia"/>
                <a:cs typeface="Georgia"/>
                <a:sym typeface="Georgia"/>
              </a:rPr>
              <a:t>The Renaissance in Northern Europe</a:t>
            </a:r>
            <a:endParaRPr b="1" i="1" sz="3400" u="sng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2819400" y="1219200"/>
            <a:ext cx="30000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the advantage of being in close proximity to ancient Roman works”</a:t>
            </a:r>
            <a:endParaRPr/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b="24936" l="10378" r="0" t="0"/>
          <a:stretch/>
        </p:blipFill>
        <p:spPr>
          <a:xfrm>
            <a:off x="7069025" y="2431200"/>
            <a:ext cx="1995825" cy="255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 b="6022" l="0" r="0" t="6189"/>
          <a:stretch/>
        </p:blipFill>
        <p:spPr>
          <a:xfrm>
            <a:off x="7385700" y="817700"/>
            <a:ext cx="1384650" cy="2138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125700" y="943075"/>
            <a:ext cx="54108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late 16th century -&gt; mid-18th century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b="1" lang="en" sz="2300"/>
              <a:t>More </a:t>
            </a:r>
            <a:r>
              <a:rPr b="1" lang="en" sz="2300"/>
              <a:t>energetic style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Political conflicts were larger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Catholic Church wanted influence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“Divine right” &amp; super-luxurious elites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Enlightenment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Rich who made artworks popular</a:t>
            </a:r>
            <a:endParaRPr sz="2300"/>
          </a:p>
        </p:txBody>
      </p:sp>
      <p:sp>
        <p:nvSpPr>
          <p:cNvPr id="107" name="Google Shape;107;p15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400" u="sng">
                <a:latin typeface="Georgia"/>
                <a:ea typeface="Georgia"/>
                <a:cs typeface="Georgia"/>
                <a:sym typeface="Georgia"/>
              </a:rPr>
              <a:t>Baroque Art</a:t>
            </a:r>
            <a:endParaRPr b="1" i="1" sz="34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Our Maps of the 18th Century—and Theirs - GeoCurrents" id="108" name="Google Shape;108;p15"/>
          <p:cNvPicPr preferRelativeResize="0"/>
          <p:nvPr/>
        </p:nvPicPr>
        <p:blipFill rotWithShape="1">
          <a:blip r:embed="rId3">
            <a:alphaModFix/>
          </a:blip>
          <a:srcRect b="22057" l="0" r="4397" t="0"/>
          <a:stretch/>
        </p:blipFill>
        <p:spPr>
          <a:xfrm>
            <a:off x="5185600" y="1408700"/>
            <a:ext cx="3696650" cy="256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278575" y="943025"/>
            <a:ext cx="6413100" cy="3851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Chiaroscuro:</a:t>
            </a:r>
            <a:r>
              <a:rPr lang="en" sz="2300"/>
              <a:t> exaggerated contrasts between light and dark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Caravaggio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used lower-class individuals in art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Artemisia Gentileschi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Adapted Caravaggio’s techniques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Rembrandt van Rijn</a:t>
            </a:r>
            <a:endParaRPr sz="2300"/>
          </a:p>
        </p:txBody>
      </p:sp>
      <p:sp>
        <p:nvSpPr>
          <p:cNvPr id="114" name="Google Shape;114;p16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400" u="sng">
                <a:latin typeface="Georgia"/>
                <a:ea typeface="Georgia"/>
                <a:cs typeface="Georgia"/>
                <a:sym typeface="Georgia"/>
              </a:rPr>
              <a:t>Baroque Art</a:t>
            </a:r>
            <a:r>
              <a:rPr b="1" i="1" lang="en" sz="1400" u="sng">
                <a:latin typeface="Georgia"/>
                <a:ea typeface="Georgia"/>
                <a:cs typeface="Georgia"/>
                <a:sym typeface="Georgia"/>
              </a:rPr>
              <a:t>(part 2)</a:t>
            </a:r>
            <a:endParaRPr b="1" i="1" sz="14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Face Vomiting Emoji (U+1F92E)"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2500" y="2312050"/>
            <a:ext cx="275900" cy="25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5300" y="2618422"/>
            <a:ext cx="2961101" cy="2470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400" u="sng">
                <a:latin typeface="Georgia"/>
                <a:ea typeface="Georgia"/>
                <a:cs typeface="Georgia"/>
                <a:sym typeface="Georgia"/>
              </a:rPr>
              <a:t>Baroque Art</a:t>
            </a:r>
            <a:r>
              <a:rPr b="1" i="1" lang="en" sz="1400" u="sng">
                <a:latin typeface="Georgia"/>
                <a:ea typeface="Georgia"/>
                <a:cs typeface="Georgia"/>
                <a:sym typeface="Georgia"/>
              </a:rPr>
              <a:t>(part 3)</a:t>
            </a:r>
            <a:endParaRPr b="1" i="1" sz="1400" u="sng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278575" y="692675"/>
            <a:ext cx="8364600" cy="4383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Gianlorenzo Bernini(theratre)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Reached its peak in France(Louis XIV)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Model for other monarchs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Salon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picking &amp; supporting artists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King </a:t>
            </a:r>
            <a:r>
              <a:rPr lang="en" sz="2300"/>
              <a:t>Philip</a:t>
            </a:r>
            <a:r>
              <a:rPr lang="en" sz="2300"/>
              <a:t> IV(Spain)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Copied from France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Diego Velázquez(apprentice from Bernini)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Making figures from patches of color(Impressionism)</a:t>
            </a:r>
            <a:endParaRPr sz="2300"/>
          </a:p>
        </p:txBody>
      </p:sp>
      <p:pic>
        <p:nvPicPr>
          <p:cNvPr descr="France | History, Maps, Flag ..." id="123" name="Google Shape;12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8425" y="90050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1541" r="1531" t="0"/>
          <a:stretch/>
        </p:blipFill>
        <p:spPr>
          <a:xfrm>
            <a:off x="4910275" y="1858435"/>
            <a:ext cx="2324775" cy="13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 b="3271" l="0" r="0" t="3271"/>
          <a:stretch/>
        </p:blipFill>
        <p:spPr>
          <a:xfrm>
            <a:off x="4625075" y="2228250"/>
            <a:ext cx="3502925" cy="27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DCD8F9"/>
      </a:dk1>
      <a:lt1>
        <a:srgbClr val="FFFFFF"/>
      </a:lt1>
      <a:dk2>
        <a:srgbClr val="000000"/>
      </a:dk2>
      <a:lt2>
        <a:srgbClr val="949EF5"/>
      </a:lt2>
      <a:accent1>
        <a:srgbClr val="ECDCB7"/>
      </a:accent1>
      <a:accent2>
        <a:srgbClr val="BEBAF7"/>
      </a:accent2>
      <a:accent3>
        <a:srgbClr val="444F8A"/>
      </a:accent3>
      <a:accent4>
        <a:srgbClr val="6A77CE"/>
      </a:accent4>
      <a:accent5>
        <a:srgbClr val="F2E0B8"/>
      </a:accent5>
      <a:accent6>
        <a:srgbClr val="D1BE8D"/>
      </a:accent6>
      <a:hlink>
        <a:srgbClr val="9C9AAF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
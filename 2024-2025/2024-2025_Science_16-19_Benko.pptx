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31eae471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31eae471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important to have a large enough </a:t>
            </a:r>
            <a:r>
              <a:rPr i="1" lang="en" sz="850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</a:t>
            </a:r>
            <a:r>
              <a:rPr lang="en" sz="850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—the number of individuals tested or samples collected—so</a:t>
            </a:r>
            <a:endParaRPr sz="850">
              <a:solidFill>
                <a:srgbClr val="1414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the data gathered are representative of the entire population.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831eae471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831eae471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important to have a large enough </a:t>
            </a:r>
            <a:r>
              <a:rPr i="1" lang="en" sz="850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</a:t>
            </a:r>
            <a:r>
              <a:rPr lang="en" sz="850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—the number of individuals tested or samples collected—so</a:t>
            </a:r>
            <a:endParaRPr sz="850">
              <a:solidFill>
                <a:srgbClr val="1414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the data gathered are representative of the entire population.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31eae471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831eae471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always this simple. So, the investigator has to play detective.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57800" y="556050"/>
            <a:ext cx="76284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Air and Water Pollution - The Role of Repetition in Science (16-19)</a:t>
            </a:r>
            <a:endParaRPr sz="66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503400" y="943075"/>
            <a:ext cx="81372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Lead(Pb)!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soft, malleable, &amp; resists corrosion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Impairs CNS  function &amp; is toxic [developing brains are sensitive]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Industrial revolution sped up Lead extraction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1975: unleaded gasoline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major source of contamination in the U.S. today is from plumbing</a:t>
            </a:r>
            <a:endParaRPr sz="2300">
              <a:solidFill>
                <a:schemeClr val="accent6"/>
              </a:solidFill>
            </a:endParaRPr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latin typeface="Georgia"/>
                <a:ea typeface="Georgia"/>
                <a:cs typeface="Georgia"/>
                <a:sym typeface="Georgia"/>
              </a:rPr>
              <a:t>Air and Water Pollution</a:t>
            </a:r>
            <a:endParaRPr b="1" i="1" sz="43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Lead – Minecraft Wiki" id="98" name="Google Shape;98;p14"/>
          <p:cNvPicPr preferRelativeResize="0"/>
          <p:nvPr/>
        </p:nvPicPr>
        <p:blipFill rotWithShape="1">
          <a:blip r:embed="rId3">
            <a:alphaModFix/>
          </a:blip>
          <a:srcRect b="3485" l="15740" r="10431" t="10876"/>
          <a:stretch/>
        </p:blipFill>
        <p:spPr>
          <a:xfrm>
            <a:off x="7289825" y="99175"/>
            <a:ext cx="1582225" cy="18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503400" y="943075"/>
            <a:ext cx="81372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b="1" i="1" lang="en" sz="2300" u="sng">
                <a:solidFill>
                  <a:srgbClr val="000000"/>
                </a:solidFill>
                <a:highlight>
                  <a:schemeClr val="lt1"/>
                </a:highlight>
              </a:rPr>
              <a:t>Scientific method:</a:t>
            </a: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 an objective way to learn how new things about everything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Observe nature &amp; ask questions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Make a general statement about the observation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Based on the hypothesis, the observations, and questions, make an informed projection about the hypothesis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Test the hypothesis with an experiment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■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Observational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■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manipulation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104" name="Google Shape;104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latin typeface="Georgia"/>
                <a:ea typeface="Georgia"/>
                <a:cs typeface="Georgia"/>
                <a:sym typeface="Georgia"/>
              </a:rPr>
              <a:t>The Scientific Method</a:t>
            </a:r>
            <a:endParaRPr b="1" i="1" sz="4300" u="sng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503400" y="943075"/>
            <a:ext cx="81372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Accept, revise, or reject the hypothesis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Report to others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Replicate the experiment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Many people test a hypothesis(finding[not definite])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Widely accepted hypothesis(theory[not definite])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a theory is widely accepted and universally appears(universal law)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latin typeface="Georgia"/>
                <a:ea typeface="Georgia"/>
                <a:cs typeface="Georgia"/>
                <a:sym typeface="Georgia"/>
              </a:rPr>
              <a:t>The Scientific Method</a:t>
            </a:r>
            <a:endParaRPr b="1" i="1" sz="4300" u="sng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300" u="sng">
                <a:latin typeface="Georgia"/>
                <a:ea typeface="Georgia"/>
                <a:cs typeface="Georgia"/>
                <a:sym typeface="Georgia"/>
              </a:rPr>
              <a:t>An Illustration of the Scientific Method</a:t>
            </a:r>
            <a:endParaRPr b="1" i="1" sz="33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503400" y="943075"/>
            <a:ext cx="81372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“What will happen to the diversity if the size of a natural area is reduced from ten hectares to one?”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A natural area has construction, other areas stay pristine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  <a:highlight>
                  <a:schemeClr val="lt1"/>
                </a:highlight>
              </a:rPr>
              <a:t>If the one hectare “natural areas” in the housing developments have fewer species, the investigator’s hypothesis was not falsified and report their findings to the scientific community</a:t>
            </a:r>
            <a:endParaRPr sz="230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6814" r="6822" t="0"/>
          <a:stretch/>
        </p:blipFill>
        <p:spPr>
          <a:xfrm>
            <a:off x="5871275" y="2178275"/>
            <a:ext cx="2861500" cy="286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0F7195"/>
      </a:dk1>
      <a:lt1>
        <a:srgbClr val="FFFFFF"/>
      </a:lt1>
      <a:dk2>
        <a:srgbClr val="000000"/>
      </a:dk2>
      <a:lt2>
        <a:srgbClr val="C5C5C5"/>
      </a:lt2>
      <a:accent1>
        <a:srgbClr val="416C89"/>
      </a:accent1>
      <a:accent2>
        <a:srgbClr val="729DBC"/>
      </a:accent2>
      <a:accent3>
        <a:srgbClr val="137F9C"/>
      </a:accent3>
      <a:accent4>
        <a:srgbClr val="1A617A"/>
      </a:accent4>
      <a:accent5>
        <a:srgbClr val="4B779B"/>
      </a:accent5>
      <a:accent6>
        <a:srgbClr val="535353"/>
      </a:accent6>
      <a:hlink>
        <a:srgbClr val="CAEAF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
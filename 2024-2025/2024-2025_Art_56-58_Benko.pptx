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Slab"/>
      <p:regular r:id="rId11"/>
      <p:bold r:id="rId12"/>
    </p:embeddedFon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lab-regular.fntdata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font" Target="fonts/RobotoSlab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992aa929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8992aa929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f9f9e4e66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f9f9e4e66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Underreported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f9f9e4e66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f9f9e4e66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Underreported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3ea0ea6f5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3ea0ea6f5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3"/>
          <p:cNvGrpSpPr/>
          <p:nvPr/>
        </p:nvGrpSpPr>
        <p:grpSpPr>
          <a:xfrm>
            <a:off x="204321" y="3695547"/>
            <a:ext cx="783162" cy="592287"/>
            <a:chOff x="999536" y="3806450"/>
            <a:chExt cx="385092" cy="340219"/>
          </a:xfrm>
        </p:grpSpPr>
        <p:sp>
          <p:nvSpPr>
            <p:cNvPr id="86" name="Google Shape;86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0" y="4795800"/>
            <a:ext cx="1586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By: Matija Benko</a:t>
            </a:r>
            <a:endParaRPr sz="12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290150" y="182075"/>
            <a:ext cx="8563800" cy="439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1591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5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SELECTED WORK 4: Will Wilson, Church Rock Spill Evaporation Ponds, Church Rock, New Mexico, Dinétah, 2019 (56-58)</a:t>
            </a:r>
            <a:endParaRPr sz="5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13"/>
          <p:cNvSpPr/>
          <p:nvPr/>
        </p:nvSpPr>
        <p:spPr>
          <a:xfrm rot="-5400000">
            <a:off x="8132550" y="4132050"/>
            <a:ext cx="1001400" cy="1021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125700" y="943075"/>
            <a:ext cx="63708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>
                <a:solidFill>
                  <a:schemeClr val="accent5"/>
                </a:solidFill>
              </a:rPr>
              <a:t>Will Wilson:</a:t>
            </a:r>
            <a:r>
              <a:rPr lang="en" sz="2300"/>
              <a:t> contemporary Diné (Navajo) </a:t>
            </a:r>
            <a:r>
              <a:rPr lang="en" sz="2300"/>
              <a:t>artist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photography, sculpture, art history (Dinétah/Navajo Nation)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bachelor’s in studio art &amp; art history in 1993(Oberlin College)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Master of Fine Arts degree in 2002(University of New Mexico)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“Survey”: pollution in Dinétah</a:t>
            </a:r>
            <a:endParaRPr sz="2300"/>
          </a:p>
        </p:txBody>
      </p:sp>
      <p:sp>
        <p:nvSpPr>
          <p:cNvPr id="97" name="Google Shape;97;p14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100" u="sng">
                <a:latin typeface="Georgia"/>
                <a:ea typeface="Georgia"/>
                <a:cs typeface="Georgia"/>
                <a:sym typeface="Georgia"/>
              </a:rPr>
              <a:t>SELECTED WORK: Will Wilson, Church Rock Spill Evaporation Ponds, Church Rock, New Mexico, Dinétah, 2019</a:t>
            </a:r>
            <a:endParaRPr b="1" i="1" sz="21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6450" y="967300"/>
            <a:ext cx="2521850" cy="35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100" u="sng">
                <a:latin typeface="Georgia"/>
                <a:ea typeface="Georgia"/>
                <a:cs typeface="Georgia"/>
                <a:sym typeface="Georgia"/>
              </a:rPr>
              <a:t>SELECTED WORK: Will Wilson, Church Rock Spill Evaporation Ponds, Church Rock, New Mexico, Dinétah, 2019</a:t>
            </a:r>
            <a:endParaRPr b="1" i="1" sz="2100" u="sng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125700" y="943075"/>
            <a:ext cx="76128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4 Mil tons of uranium was extracted from the Dinétah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Church Rock Spill is an aerial view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two ponds used to evaporate water contaminated with tailings(waste product from uranium mining-contains heavy metals and radium)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dam holding contaminated water at the Church Rock uranium mill breached, sent 93 million gallons of radioactive liquid to the Dinétah</a:t>
            </a:r>
            <a:endParaRPr sz="2300"/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9625" y="2199600"/>
            <a:ext cx="1644373" cy="179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6"/>
          <p:cNvPicPr preferRelativeResize="0"/>
          <p:nvPr/>
        </p:nvPicPr>
        <p:blipFill rotWithShape="1">
          <a:blip r:embed="rId3">
            <a:alphaModFix/>
          </a:blip>
          <a:srcRect b="20429" l="23069" r="23069" t="24401"/>
          <a:stretch/>
        </p:blipFill>
        <p:spPr>
          <a:xfrm>
            <a:off x="7169550" y="3903425"/>
            <a:ext cx="1001450" cy="9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100" u="sng">
                <a:latin typeface="Georgia"/>
                <a:ea typeface="Georgia"/>
                <a:cs typeface="Georgia"/>
                <a:sym typeface="Georgia"/>
              </a:rPr>
              <a:t>SELECTED WORK: Will Wilson, Church Rock Spill Evaporation Ponds, Church Rock, New Mexico, Dinétah, 2019</a:t>
            </a:r>
            <a:endParaRPr b="1" i="1" sz="2100" u="sng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125700" y="943075"/>
            <a:ext cx="88533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“Survey” emphasizes that the polluted lands were not unpopulated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“Survey” uses every definition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Activities of military and mining industries repeated a false notion that Indigenous peoples basically don’t exist/matter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Wilson noticed this w/ Edward S. Curtis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" sz="2300"/>
              <a:t>created portraits in a studio using large format wet plate collodion photographs(response)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" sz="2300"/>
              <a:t>glass-plate negative: 8in.*10in.(high detail)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" sz="2300"/>
              <a:t>emphasizing uniqueness</a:t>
            </a:r>
            <a:endParaRPr sz="2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0"/>
              <a:t>Thank You!</a:t>
            </a:r>
            <a:endParaRPr sz="15500"/>
          </a:p>
        </p:txBody>
      </p:sp>
      <p:pic>
        <p:nvPicPr>
          <p:cNvPr id="118" name="Google Shape;118;p17"/>
          <p:cNvPicPr preferRelativeResize="0"/>
          <p:nvPr/>
        </p:nvPicPr>
        <p:blipFill rotWithShape="1">
          <a:blip r:embed="rId3">
            <a:alphaModFix/>
          </a:blip>
          <a:srcRect b="11066" l="0" r="0" t="11058"/>
          <a:stretch/>
        </p:blipFill>
        <p:spPr>
          <a:xfrm>
            <a:off x="4625075" y="2228250"/>
            <a:ext cx="3502924" cy="272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EC2601"/>
      </a:dk1>
      <a:lt1>
        <a:srgbClr val="FFFFFF"/>
      </a:lt1>
      <a:dk2>
        <a:srgbClr val="000000"/>
      </a:dk2>
      <a:lt2>
        <a:srgbClr val="B81B06"/>
      </a:lt2>
      <a:accent1>
        <a:srgbClr val="D48616"/>
      </a:accent1>
      <a:accent2>
        <a:srgbClr val="D32917"/>
      </a:accent2>
      <a:accent3>
        <a:srgbClr val="1FCD6C"/>
      </a:accent3>
      <a:accent4>
        <a:srgbClr val="831B10"/>
      </a:accent4>
      <a:accent5>
        <a:srgbClr val="9353C0"/>
      </a:accent5>
      <a:accent6>
        <a:srgbClr val="C24322"/>
      </a:accent6>
      <a:hlink>
        <a:srgbClr val="9C9AAF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
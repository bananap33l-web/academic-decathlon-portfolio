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992aa929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8992aa929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ef91c578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ef91c578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ef91c578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0ef91c578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0ef91c578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0ef91c578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0ef91c578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0ef91c578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3ea0ea6f5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3ea0ea6f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3"/>
          <p:cNvGrpSpPr/>
          <p:nvPr/>
        </p:nvGrpSpPr>
        <p:grpSpPr>
          <a:xfrm>
            <a:off x="204321" y="3695547"/>
            <a:ext cx="783162" cy="592287"/>
            <a:chOff x="999536" y="3806450"/>
            <a:chExt cx="385092" cy="340219"/>
          </a:xfrm>
        </p:grpSpPr>
        <p:sp>
          <p:nvSpPr>
            <p:cNvPr id="86" name="Google Shape;86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0" y="4795800"/>
            <a:ext cx="1586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By: Matija Benko</a:t>
            </a:r>
            <a:endParaRPr sz="12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290150" y="182075"/>
            <a:ext cx="8563800" cy="439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591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65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Overview of Solar Storms - Plot and Structure: Chapter Summaries (20-22)</a:t>
            </a:r>
            <a:endParaRPr sz="65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3"/>
          <p:cNvSpPr/>
          <p:nvPr/>
        </p:nvSpPr>
        <p:spPr>
          <a:xfrm rot="-5400000">
            <a:off x="8132550" y="4132050"/>
            <a:ext cx="1001400" cy="1021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125700" y="943075"/>
            <a:ext cx="81699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Solar Storms(1994)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Bildungsroman(1970s)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Angela Jensen(17-year-old Native American)[MC]</a:t>
            </a:r>
            <a:endParaRPr sz="2300"/>
          </a:p>
          <a:p>
            <a:pPr indent="-374650" lvl="2" marL="1371600" rtl="0" algn="l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" sz="2300"/>
              <a:t>Process of Angel’s self-discovery w/ personal know, Ls &amp; Ws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Audience can read her thinks(&amp; her </a:t>
            </a:r>
            <a:r>
              <a:rPr lang="en" sz="2300"/>
              <a:t>grandmas</a:t>
            </a:r>
            <a:r>
              <a:rPr lang="en" sz="2300"/>
              <a:t>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Abusive Mother makes her live in foster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Hydrodam will change rivers &amp; dams</a:t>
            </a:r>
            <a:endParaRPr sz="2300"/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700" u="sng">
                <a:latin typeface="Georgia"/>
                <a:ea typeface="Georgia"/>
                <a:cs typeface="Georgia"/>
                <a:sym typeface="Georgia"/>
              </a:rPr>
              <a:t>Overview of Solar Storms</a:t>
            </a:r>
            <a:endParaRPr b="1" i="1" sz="47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How big is the brain? Who knows—even ..."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4450" y="3331300"/>
            <a:ext cx="2533650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USTFYR cushion, white/ghost, 12&quot; - IKEA" id="99" name="Google Shape;99;p14"/>
          <p:cNvPicPr preferRelativeResize="0"/>
          <p:nvPr/>
        </p:nvPicPr>
        <p:blipFill rotWithShape="1">
          <a:blip r:embed="rId4">
            <a:alphaModFix/>
          </a:blip>
          <a:srcRect b="4996" l="12959" r="11823" t="5622"/>
          <a:stretch/>
        </p:blipFill>
        <p:spPr>
          <a:xfrm>
            <a:off x="7532025" y="1171200"/>
            <a:ext cx="1611975" cy="191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125700" y="943075"/>
            <a:ext cx="81699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Angel is greeted by Dora-Rouge and Agnes(grandmas), Bush(Angel’s caretaker)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Live in the US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Grandmas &amp; bush share stories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2 indians warn town about </a:t>
            </a:r>
            <a:r>
              <a:rPr lang="en" sz="2300"/>
              <a:t>reservoir</a:t>
            </a:r>
            <a:r>
              <a:rPr lang="en" sz="2300"/>
              <a:t> expanding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Protest &amp; find Hannah Wing(Angel’s mother)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Angel leaves Tommy(crush)</a:t>
            </a:r>
            <a:endParaRPr sz="2300"/>
          </a:p>
        </p:txBody>
      </p:sp>
      <p:sp>
        <p:nvSpPr>
          <p:cNvPr id="105" name="Google Shape;105;p15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700" u="sng">
                <a:latin typeface="Georgia"/>
                <a:ea typeface="Georgia"/>
                <a:cs typeface="Georgia"/>
                <a:sym typeface="Georgia"/>
              </a:rPr>
              <a:t>Overview of Solar Storms</a:t>
            </a:r>
            <a:r>
              <a:rPr b="1" i="1" lang="en" sz="700">
                <a:latin typeface="Georgia"/>
                <a:ea typeface="Georgia"/>
                <a:cs typeface="Georgia"/>
                <a:sym typeface="Georgia"/>
              </a:rPr>
              <a:t>(part 2)</a:t>
            </a:r>
            <a:endParaRPr b="1" i="1" sz="7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34284" r="0" t="10570"/>
          <a:stretch/>
        </p:blipFill>
        <p:spPr>
          <a:xfrm>
            <a:off x="5508850" y="3395975"/>
            <a:ext cx="3509451" cy="174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125700" y="943075"/>
            <a:ext cx="81699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Can see through water &amp; makes medicinal plants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all find history in water, which is different from settlers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Dora-Rouge makes a deal w/ a river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as they go to Two-Town, Agnes dies(later)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Tulik(</a:t>
            </a:r>
            <a:r>
              <a:rPr lang="en" sz="2300"/>
              <a:t>Dora’s relative</a:t>
            </a:r>
            <a:r>
              <a:rPr lang="en" sz="2300"/>
              <a:t>) &amp; protest[US gvmt. &amp; BEEVCO moved rivers without permission]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Meets Hannah &amp; she denies hitting her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Supports her in Hannah’s last moments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Aurora(baby sister)</a:t>
            </a:r>
            <a:endParaRPr sz="2300"/>
          </a:p>
        </p:txBody>
      </p:sp>
      <p:sp>
        <p:nvSpPr>
          <p:cNvPr id="112" name="Google Shape;112;p16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700" u="sng">
                <a:latin typeface="Georgia"/>
                <a:ea typeface="Georgia"/>
                <a:cs typeface="Georgia"/>
                <a:sym typeface="Georgia"/>
              </a:rPr>
              <a:t>Angel’s ‘connection’ to water(plus other stuff)</a:t>
            </a:r>
            <a:endParaRPr b="1" i="1" sz="1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125700" y="943075"/>
            <a:ext cx="89313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Protests turn more violent(corporation &amp; government reject Native people’s </a:t>
            </a:r>
            <a:r>
              <a:rPr lang="en" sz="2300"/>
              <a:t>pleas</a:t>
            </a:r>
            <a:r>
              <a:rPr lang="en" sz="2300"/>
              <a:t>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blockades &amp; using military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To violence or not to violence?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Tulik’s is burned &amp; workers &amp; police threaten violence vs. Angel and Dora-Rouge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Bush, Angel, &amp; Aurora esc w/ Mr. Orensen’s help after Aurora’s </a:t>
            </a:r>
            <a:r>
              <a:rPr lang="en" sz="2300"/>
              <a:t>tear gassed</a:t>
            </a:r>
            <a:endParaRPr sz="2300"/>
          </a:p>
        </p:txBody>
      </p:sp>
      <p:sp>
        <p:nvSpPr>
          <p:cNvPr id="118" name="Google Shape;118;p17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700" u="sng">
                <a:latin typeface="Georgia"/>
                <a:ea typeface="Georgia"/>
                <a:cs typeface="Georgia"/>
                <a:sym typeface="Georgia"/>
              </a:rPr>
              <a:t>Overview of Solar Storms</a:t>
            </a:r>
            <a:r>
              <a:rPr b="1" i="1" lang="en" sz="700">
                <a:latin typeface="Georgia"/>
                <a:ea typeface="Georgia"/>
                <a:cs typeface="Georgia"/>
                <a:sym typeface="Georgia"/>
              </a:rPr>
              <a:t>(part 4)</a:t>
            </a:r>
            <a:endParaRPr b="1" i="1" sz="2700" u="sng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125700" y="943075"/>
            <a:ext cx="81699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Bush’s home is mostly submerged(take as much as they can)[Go back to walking]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Tommy &amp; Angel reunite and marry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Angel keeps fighting for water &amp; land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W/Tulik in court as testimony on behalf of Native communities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Hopes that humanity can know and protect Earth</a:t>
            </a:r>
            <a:endParaRPr sz="2300"/>
          </a:p>
        </p:txBody>
      </p:sp>
      <p:sp>
        <p:nvSpPr>
          <p:cNvPr id="124" name="Google Shape;124;p18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700" u="sng">
                <a:latin typeface="Georgia"/>
                <a:ea typeface="Georgia"/>
                <a:cs typeface="Georgia"/>
                <a:sym typeface="Georgia"/>
              </a:rPr>
              <a:t>Overview of Solar Storms</a:t>
            </a:r>
            <a:r>
              <a:rPr b="1" i="1" lang="en" sz="700">
                <a:latin typeface="Georgia"/>
                <a:ea typeface="Georgia"/>
                <a:cs typeface="Georgia"/>
                <a:sym typeface="Georgia"/>
              </a:rPr>
              <a:t>(part 5)</a:t>
            </a:r>
            <a:endParaRPr b="1" i="1" sz="2700" u="sng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id="130" name="Google Shape;130;p19"/>
          <p:cNvPicPr preferRelativeResize="0"/>
          <p:nvPr/>
        </p:nvPicPr>
        <p:blipFill rotWithShape="1">
          <a:blip r:embed="rId3">
            <a:alphaModFix/>
          </a:blip>
          <a:srcRect b="0" l="13905" r="13897" t="0"/>
          <a:stretch/>
        </p:blipFill>
        <p:spPr>
          <a:xfrm>
            <a:off x="5387075" y="2228250"/>
            <a:ext cx="3502925" cy="272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0535B4"/>
      </a:dk1>
      <a:lt1>
        <a:srgbClr val="FFFFFF"/>
      </a:lt1>
      <a:dk2>
        <a:srgbClr val="000000"/>
      </a:dk2>
      <a:lt2>
        <a:srgbClr val="062DA4"/>
      </a:lt2>
      <a:accent1>
        <a:srgbClr val="596B9C"/>
      </a:accent1>
      <a:accent2>
        <a:srgbClr val="FCEE84"/>
      </a:accent2>
      <a:accent3>
        <a:srgbClr val="FCAA34"/>
      </a:accent3>
      <a:accent4>
        <a:srgbClr val="EC3F05"/>
      </a:accent4>
      <a:accent5>
        <a:srgbClr val="FC8134"/>
      </a:accent5>
      <a:accent6>
        <a:srgbClr val="F6CE5D"/>
      </a:accent6>
      <a:hlink>
        <a:srgbClr val="9C9AAF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
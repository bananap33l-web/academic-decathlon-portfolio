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 Slab"/>
      <p:regular r:id="rId10"/>
      <p:bold r:id="rId11"/>
    </p:embeddedFon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Slab-bold.fntdata"/><Relationship Id="rId10" Type="http://schemas.openxmlformats.org/officeDocument/2006/relationships/font" Target="fonts/RobotoSlab-regular.fntdata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3ea0ea6f5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3ea0ea6f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54eabf21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54eabf21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3ea0ea6f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3ea0ea6f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204321" y="3695547"/>
            <a:ext cx="783162" cy="592287"/>
            <a:chOff x="999536" y="3806450"/>
            <a:chExt cx="385092" cy="340219"/>
          </a:xfrm>
        </p:grpSpPr>
        <p:sp>
          <p:nvSpPr>
            <p:cNvPr id="86" name="Google Shape;86;p13"/>
            <p:cNvSpPr/>
            <p:nvPr/>
          </p:nvSpPr>
          <p:spPr>
            <a:xfrm>
              <a:off x="999548" y="3806450"/>
              <a:ext cx="254100" cy="339775"/>
            </a:xfrm>
            <a:custGeom>
              <a:rect b="b" l="l" r="r" t="t"/>
              <a:pathLst>
                <a:path extrusionOk="0" h="13591" w="10164">
                  <a:moveTo>
                    <a:pt x="7563" y="2032"/>
                  </a:moveTo>
                  <a:cubicBezTo>
                    <a:pt x="7853" y="2032"/>
                    <a:pt x="8131" y="2256"/>
                    <a:pt x="8131" y="2596"/>
                  </a:cubicBezTo>
                  <a:cubicBezTo>
                    <a:pt x="8131" y="2937"/>
                    <a:pt x="7852" y="3163"/>
                    <a:pt x="7562" y="3163"/>
                  </a:cubicBezTo>
                  <a:cubicBezTo>
                    <a:pt x="7423" y="3163"/>
                    <a:pt x="7282" y="3111"/>
                    <a:pt x="7168" y="2997"/>
                  </a:cubicBezTo>
                  <a:cubicBezTo>
                    <a:pt x="6945" y="2777"/>
                    <a:pt x="6945" y="2418"/>
                    <a:pt x="7168" y="2199"/>
                  </a:cubicBezTo>
                  <a:cubicBezTo>
                    <a:pt x="7283" y="2083"/>
                    <a:pt x="7425" y="2032"/>
                    <a:pt x="7563" y="2032"/>
                  </a:cubicBezTo>
                  <a:close/>
                  <a:moveTo>
                    <a:pt x="7339" y="0"/>
                  </a:moveTo>
                  <a:cubicBezTo>
                    <a:pt x="5412" y="0"/>
                    <a:pt x="3759" y="1087"/>
                    <a:pt x="2901" y="2668"/>
                  </a:cubicBezTo>
                  <a:cubicBezTo>
                    <a:pt x="2852" y="2674"/>
                    <a:pt x="2804" y="2686"/>
                    <a:pt x="2762" y="2704"/>
                  </a:cubicBezTo>
                  <a:cubicBezTo>
                    <a:pt x="2602" y="2782"/>
                    <a:pt x="2431" y="2819"/>
                    <a:pt x="2260" y="2819"/>
                  </a:cubicBezTo>
                  <a:cubicBezTo>
                    <a:pt x="1967" y="2819"/>
                    <a:pt x="1678" y="2707"/>
                    <a:pt x="1458" y="2494"/>
                  </a:cubicBezTo>
                  <a:cubicBezTo>
                    <a:pt x="1247" y="2280"/>
                    <a:pt x="1127" y="1994"/>
                    <a:pt x="1130" y="1696"/>
                  </a:cubicBezTo>
                  <a:cubicBezTo>
                    <a:pt x="1130" y="1395"/>
                    <a:pt x="1247" y="1178"/>
                    <a:pt x="1458" y="964"/>
                  </a:cubicBezTo>
                  <a:cubicBezTo>
                    <a:pt x="1681" y="744"/>
                    <a:pt x="1681" y="386"/>
                    <a:pt x="1458" y="166"/>
                  </a:cubicBezTo>
                  <a:cubicBezTo>
                    <a:pt x="1348" y="56"/>
                    <a:pt x="1204" y="1"/>
                    <a:pt x="1059" y="1"/>
                  </a:cubicBezTo>
                  <a:cubicBezTo>
                    <a:pt x="915" y="1"/>
                    <a:pt x="770" y="56"/>
                    <a:pt x="660" y="166"/>
                  </a:cubicBezTo>
                  <a:cubicBezTo>
                    <a:pt x="236" y="594"/>
                    <a:pt x="1" y="1093"/>
                    <a:pt x="1" y="1696"/>
                  </a:cubicBezTo>
                  <a:cubicBezTo>
                    <a:pt x="1" y="2942"/>
                    <a:pt x="1010" y="3954"/>
                    <a:pt x="2259" y="3954"/>
                  </a:cubicBezTo>
                  <a:cubicBezTo>
                    <a:pt x="2307" y="3954"/>
                    <a:pt x="2353" y="3939"/>
                    <a:pt x="2401" y="3936"/>
                  </a:cubicBezTo>
                  <a:lnTo>
                    <a:pt x="2401" y="3936"/>
                  </a:lnTo>
                  <a:cubicBezTo>
                    <a:pt x="2319" y="4282"/>
                    <a:pt x="2274" y="4635"/>
                    <a:pt x="2265" y="4990"/>
                  </a:cubicBezTo>
                  <a:cubicBezTo>
                    <a:pt x="2976" y="4680"/>
                    <a:pt x="3741" y="4517"/>
                    <a:pt x="4518" y="4517"/>
                  </a:cubicBezTo>
                  <a:lnTo>
                    <a:pt x="5081" y="4517"/>
                  </a:lnTo>
                  <a:cubicBezTo>
                    <a:pt x="6017" y="4517"/>
                    <a:pt x="6773" y="5276"/>
                    <a:pt x="6776" y="6213"/>
                  </a:cubicBezTo>
                  <a:lnTo>
                    <a:pt x="6776" y="9073"/>
                  </a:lnTo>
                  <a:cubicBezTo>
                    <a:pt x="6776" y="10925"/>
                    <a:pt x="5864" y="12557"/>
                    <a:pt x="4482" y="13590"/>
                  </a:cubicBezTo>
                  <a:lnTo>
                    <a:pt x="6210" y="13590"/>
                  </a:lnTo>
                  <a:cubicBezTo>
                    <a:pt x="8393" y="13590"/>
                    <a:pt x="10164" y="11820"/>
                    <a:pt x="10164" y="9636"/>
                  </a:cubicBezTo>
                  <a:lnTo>
                    <a:pt x="101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999536" y="3948044"/>
              <a:ext cx="141175" cy="198625"/>
            </a:xfrm>
            <a:custGeom>
              <a:rect b="b" l="l" r="r" t="t"/>
              <a:pathLst>
                <a:path extrusionOk="0" h="7945" w="5647">
                  <a:moveTo>
                    <a:pt x="4518" y="0"/>
                  </a:moveTo>
                  <a:cubicBezTo>
                    <a:pt x="2021" y="0"/>
                    <a:pt x="1" y="2060"/>
                    <a:pt x="1" y="4556"/>
                  </a:cubicBezTo>
                  <a:lnTo>
                    <a:pt x="1" y="6815"/>
                  </a:lnTo>
                  <a:cubicBezTo>
                    <a:pt x="934" y="6812"/>
                    <a:pt x="1693" y="6056"/>
                    <a:pt x="1693" y="5120"/>
                  </a:cubicBezTo>
                  <a:cubicBezTo>
                    <a:pt x="1693" y="4806"/>
                    <a:pt x="1946" y="4556"/>
                    <a:pt x="2259" y="4556"/>
                  </a:cubicBezTo>
                  <a:cubicBezTo>
                    <a:pt x="2569" y="4556"/>
                    <a:pt x="2822" y="4806"/>
                    <a:pt x="2822" y="5120"/>
                  </a:cubicBezTo>
                  <a:cubicBezTo>
                    <a:pt x="2822" y="6547"/>
                    <a:pt x="1753" y="7718"/>
                    <a:pt x="377" y="7905"/>
                  </a:cubicBezTo>
                  <a:cubicBezTo>
                    <a:pt x="434" y="7929"/>
                    <a:pt x="501" y="7941"/>
                    <a:pt x="564" y="7944"/>
                  </a:cubicBezTo>
                  <a:lnTo>
                    <a:pt x="1130" y="7944"/>
                  </a:lnTo>
                  <a:cubicBezTo>
                    <a:pt x="3623" y="7944"/>
                    <a:pt x="5647" y="5921"/>
                    <a:pt x="5647" y="3427"/>
                  </a:cubicBezTo>
                  <a:lnTo>
                    <a:pt x="5647" y="567"/>
                  </a:lnTo>
                  <a:cubicBezTo>
                    <a:pt x="5647" y="253"/>
                    <a:pt x="5394" y="0"/>
                    <a:pt x="508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1271692" y="3806451"/>
              <a:ext cx="112936" cy="198616"/>
            </a:xfrm>
            <a:custGeom>
              <a:rect b="b" l="l" r="r" t="t"/>
              <a:pathLst>
                <a:path extrusionOk="0" h="3614" w="4517">
                  <a:moveTo>
                    <a:pt x="0" y="0"/>
                  </a:moveTo>
                  <a:lnTo>
                    <a:pt x="0" y="1696"/>
                  </a:lnTo>
                  <a:cubicBezTo>
                    <a:pt x="142" y="1685"/>
                    <a:pt x="428" y="1669"/>
                    <a:pt x="771" y="1669"/>
                  </a:cubicBezTo>
                  <a:cubicBezTo>
                    <a:pt x="1415" y="1669"/>
                    <a:pt x="2264" y="1726"/>
                    <a:pt x="2749" y="1988"/>
                  </a:cubicBezTo>
                  <a:cubicBezTo>
                    <a:pt x="3355" y="2313"/>
                    <a:pt x="4062" y="3078"/>
                    <a:pt x="4517" y="3614"/>
                  </a:cubicBezTo>
                  <a:lnTo>
                    <a:pt x="4517" y="2259"/>
                  </a:lnTo>
                  <a:cubicBezTo>
                    <a:pt x="4517" y="1012"/>
                    <a:pt x="3505" y="0"/>
                    <a:pt x="225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13"/>
          <p:cNvSpPr txBox="1"/>
          <p:nvPr/>
        </p:nvSpPr>
        <p:spPr>
          <a:xfrm>
            <a:off x="0" y="4795800"/>
            <a:ext cx="15867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By: Matija Benko</a:t>
            </a:r>
            <a:endParaRPr sz="1200">
              <a:solidFill>
                <a:schemeClr val="lt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57800" y="556050"/>
            <a:ext cx="7628400" cy="38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15913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350">
                <a:solidFill>
                  <a:schemeClr val="dk2"/>
                </a:solidFill>
                <a:highlight>
                  <a:schemeClr val="lt1"/>
                </a:highlight>
                <a:latin typeface="Georgia"/>
                <a:ea typeface="Georgia"/>
                <a:cs typeface="Georgia"/>
                <a:sym typeface="Georgia"/>
              </a:rPr>
              <a:t>Stormy Weather- LISTENING COMPANION 2: Symphony No. 6, op. 68 “Pastoral,” Mvt. 4, “Gewitter Sturm: Allegro" (“Thunderstorm: Allegro”) (50-52)</a:t>
            </a:r>
            <a:endParaRPr sz="4350">
              <a:solidFill>
                <a:schemeClr val="dk2"/>
              </a:solidFill>
              <a:highlight>
                <a:schemeClr val="lt1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13"/>
          <p:cNvSpPr/>
          <p:nvPr/>
        </p:nvSpPr>
        <p:spPr>
          <a:xfrm rot="-5400000">
            <a:off x="8132550" y="4132050"/>
            <a:ext cx="1001400" cy="1021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idx="1" type="body"/>
          </p:nvPr>
        </p:nvSpPr>
        <p:spPr>
          <a:xfrm>
            <a:off x="503400" y="943075"/>
            <a:ext cx="68823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 u="sng">
                <a:solidFill>
                  <a:schemeClr val="accent2"/>
                </a:solidFill>
              </a:rPr>
              <a:t>Baroque:</a:t>
            </a:r>
            <a:r>
              <a:rPr lang="en" sz="2300"/>
              <a:t>(1600 - 1730)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Antonio Vivaldi </a:t>
            </a:r>
            <a:r>
              <a:rPr lang="en" sz="2300"/>
              <a:t>(1678–1741)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 u="sng">
                <a:solidFill>
                  <a:schemeClr val="accent2"/>
                </a:solidFill>
              </a:rPr>
              <a:t>Classic:</a:t>
            </a:r>
            <a:r>
              <a:rPr lang="en" sz="2300"/>
              <a:t>(1730 - early 1800s)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b="1" lang="en" sz="2300" u="sng">
                <a:solidFill>
                  <a:schemeClr val="accent2"/>
                </a:solidFill>
              </a:rPr>
              <a:t>Symphony:</a:t>
            </a:r>
            <a:r>
              <a:rPr lang="en" sz="2300"/>
              <a:t> multi-movement work w/ orchestra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en" sz="2300" u="sng">
                <a:solidFill>
                  <a:schemeClr val="accent2"/>
                </a:solidFill>
              </a:rPr>
              <a:t>Romantic:</a:t>
            </a:r>
            <a:r>
              <a:rPr lang="en" sz="2300"/>
              <a:t>(rest of 1800s)</a:t>
            </a:r>
            <a:endParaRPr sz="2300"/>
          </a:p>
          <a:p>
            <a:pPr indent="-374650" lvl="1" marL="914400" rtl="0" algn="l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Beethoven (1770–1827)</a:t>
            </a:r>
            <a:endParaRPr sz="2300"/>
          </a:p>
        </p:txBody>
      </p:sp>
      <p:sp>
        <p:nvSpPr>
          <p:cNvPr id="97" name="Google Shape;97;p14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300" u="sng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rPr>
              <a:t>Stormy Weather</a:t>
            </a:r>
            <a:endParaRPr b="1" i="1" sz="4300" u="sng"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1588" l="2607" r="2560" t="2127"/>
          <a:stretch/>
        </p:blipFill>
        <p:spPr>
          <a:xfrm>
            <a:off x="6690400" y="119575"/>
            <a:ext cx="1842675" cy="226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/>
          <p:cNvPicPr preferRelativeResize="0"/>
          <p:nvPr/>
        </p:nvPicPr>
        <p:blipFill rotWithShape="1">
          <a:blip r:embed="rId4">
            <a:alphaModFix/>
          </a:blip>
          <a:srcRect b="1585" l="893" r="3017" t="3502"/>
          <a:stretch/>
        </p:blipFill>
        <p:spPr>
          <a:xfrm>
            <a:off x="5191150" y="2781496"/>
            <a:ext cx="1842675" cy="22795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503400" y="943075"/>
            <a:ext cx="6882300" cy="3852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Independent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Storm &amp; nature motifs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Improvised well for his concerts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Praised for his songs</a:t>
            </a:r>
            <a:endParaRPr sz="2300"/>
          </a:p>
        </p:txBody>
      </p:sp>
      <p:sp>
        <p:nvSpPr>
          <p:cNvPr id="105" name="Google Shape;105;p15"/>
          <p:cNvSpPr txBox="1"/>
          <p:nvPr>
            <p:ph type="title"/>
          </p:nvPr>
        </p:nvSpPr>
        <p:spPr>
          <a:xfrm>
            <a:off x="125700" y="75775"/>
            <a:ext cx="8892600" cy="8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4300" u="sng">
                <a:latin typeface="Georgia"/>
                <a:ea typeface="Georgia"/>
                <a:cs typeface="Georgia"/>
                <a:sym typeface="Georgia"/>
              </a:rPr>
              <a:t>Beethoven Lets It Thunder</a:t>
            </a:r>
            <a:endParaRPr b="1" i="1" sz="4300" u="sng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0"/>
              <a:t>Thank You!</a:t>
            </a:r>
            <a:endParaRPr sz="15500"/>
          </a:p>
        </p:txBody>
      </p:sp>
      <p:pic>
        <p:nvPicPr>
          <p:cNvPr id="111" name="Google Shape;111;p16"/>
          <p:cNvPicPr preferRelativeResize="0"/>
          <p:nvPr/>
        </p:nvPicPr>
        <p:blipFill rotWithShape="1">
          <a:blip r:embed="rId3">
            <a:alphaModFix/>
          </a:blip>
          <a:srcRect b="3483" l="9750" r="9395" t="8558"/>
          <a:stretch/>
        </p:blipFill>
        <p:spPr>
          <a:xfrm>
            <a:off x="4872350" y="2423225"/>
            <a:ext cx="4114800" cy="251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BBBE7"/>
      </a:dk1>
      <a:lt1>
        <a:srgbClr val="FFFFFF"/>
      </a:lt1>
      <a:dk2>
        <a:srgbClr val="000000"/>
      </a:dk2>
      <a:lt2>
        <a:srgbClr val="CA1E2F"/>
      </a:lt2>
      <a:accent1>
        <a:srgbClr val="E4D36A"/>
      </a:accent1>
      <a:accent2>
        <a:srgbClr val="DB1BA5"/>
      </a:accent2>
      <a:accent3>
        <a:srgbClr val="94337D"/>
      </a:accent3>
      <a:accent4>
        <a:srgbClr val="1FAFDC"/>
      </a:accent4>
      <a:accent5>
        <a:srgbClr val="C71C5B"/>
      </a:accent5>
      <a:accent6>
        <a:srgbClr val="CB1F2F"/>
      </a:accent6>
      <a:hlink>
        <a:srgbClr val="CAEAFF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
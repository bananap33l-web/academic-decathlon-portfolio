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Slab"/>
      <p:regular r:id="rId11"/>
      <p:bold r:id="rId12"/>
    </p:embeddedFon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regular.fntdata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992aa929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8992aa929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0396c2b23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0396c2b23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0396c2b23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0396c2b23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3ea0ea6f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3ea0ea6f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gif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3"/>
          <p:cNvGrpSpPr/>
          <p:nvPr/>
        </p:nvGrpSpPr>
        <p:grpSpPr>
          <a:xfrm>
            <a:off x="204321" y="3695547"/>
            <a:ext cx="783162" cy="592287"/>
            <a:chOff x="999536" y="3806450"/>
            <a:chExt cx="385092" cy="340219"/>
          </a:xfrm>
        </p:grpSpPr>
        <p:sp>
          <p:nvSpPr>
            <p:cNvPr id="86" name="Google Shape;86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290150" y="182075"/>
            <a:ext cx="8563800" cy="439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591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5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The “Great Acceleration” and the Beginning of the Anthropocene- The History of Oil Extraction(40-43)</a:t>
            </a:r>
            <a:endParaRPr sz="5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3"/>
          <p:cNvSpPr/>
          <p:nvPr/>
        </p:nvSpPr>
        <p:spPr>
          <a:xfrm rot="-5400000">
            <a:off x="8132550" y="4132050"/>
            <a:ext cx="1001400" cy="1021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125700" y="943075"/>
            <a:ext cx="81699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Great Acceleration(~1950 - today):</a:t>
            </a:r>
            <a:r>
              <a:rPr lang="en" sz="2300"/>
              <a:t> more people did more things that change climate(J. R. McNeill)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More people, more things being done[1780:&gt;1B, 1930:~2B, 2024:8B]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Obvious, unprecedented, &amp; powerful changes to earth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Stronger &amp; faster than natural climate change</a:t>
            </a:r>
            <a:endParaRPr sz="2300"/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 u="sng">
                <a:latin typeface="Georgia"/>
                <a:ea typeface="Georgia"/>
                <a:cs typeface="Georgia"/>
                <a:sym typeface="Georgia"/>
              </a:rPr>
              <a:t>The “Great Acceleration” and the Beginning of the Anthropocene</a:t>
            </a:r>
            <a:endParaRPr b="1" i="1" sz="24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Climate Change ..."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9575" y="3399600"/>
            <a:ext cx="2217125" cy="174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125700" y="943075"/>
            <a:ext cx="81699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More greenhouse gases -&gt; more warming</a:t>
            </a:r>
            <a:r>
              <a:rPr lang="en" sz="2300"/>
              <a:t>😱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Lowest level increases temp. Highest levels decrease temp.[unstable😱]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>
                <a:solidFill>
                  <a:schemeClr val="accent4"/>
                </a:solidFill>
              </a:rPr>
              <a:t>Eunice Newton Foote(1819−1888):</a:t>
            </a:r>
            <a:r>
              <a:rPr lang="en" sz="2300"/>
              <a:t> water vapor &amp; carbon dioxide could interact w/ sunlight to raise Earth’s temp.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We kinda run on fossil fuels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didn't see it coming</a:t>
            </a:r>
            <a:endParaRPr sz="2300"/>
          </a:p>
        </p:txBody>
      </p:sp>
      <p:sp>
        <p:nvSpPr>
          <p:cNvPr id="104" name="Google Shape;104;p15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250" u="sng">
                <a:latin typeface="Georgia"/>
                <a:ea typeface="Georgia"/>
                <a:cs typeface="Georgia"/>
                <a:sym typeface="Georgia"/>
              </a:rPr>
              <a:t>THE CAUSES OF THE ANTHROPOCENE</a:t>
            </a:r>
            <a:endParaRPr b="1" i="1" sz="325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6200" y="2988025"/>
            <a:ext cx="3224900" cy="215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125700" y="943075"/>
            <a:ext cx="81699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/>
              <a:t>Fossil Fuels:</a:t>
            </a:r>
            <a:r>
              <a:rPr lang="en" sz="2300"/>
              <a:t> </a:t>
            </a:r>
            <a:r>
              <a:rPr lang="en" sz="2300"/>
              <a:t>Ancient</a:t>
            </a:r>
            <a:r>
              <a:rPr lang="en" sz="2300"/>
              <a:t> compressed life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Burning</a:t>
            </a:r>
            <a:r>
              <a:rPr lang="en" sz="2300"/>
              <a:t> -&gt; steam -&gt; energy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Carbon &amp; misc. Chemicals are released[become greenhouse gasses]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19th &amp; 20th cent.: fossil fuel use was in the West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Became dependent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Countries on fossil fuels extract them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More countries depend on fossil fuels</a:t>
            </a:r>
            <a:endParaRPr sz="2300"/>
          </a:p>
        </p:txBody>
      </p:sp>
      <p:sp>
        <p:nvSpPr>
          <p:cNvPr id="111" name="Google Shape;111;p16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200" u="sng">
                <a:latin typeface="Georgia"/>
                <a:ea typeface="Georgia"/>
                <a:cs typeface="Georgia"/>
                <a:sym typeface="Georgia"/>
              </a:rPr>
              <a:t>Global Production of Greenhouse Gasses</a:t>
            </a:r>
            <a:endParaRPr b="1" i="1" sz="32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Home - Mr. Socha - Fossil Fuel Formation - LibGuides at Leicester Middle  School"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0848" y="2972350"/>
            <a:ext cx="2927449" cy="201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id="118" name="Google Shape;118;p17"/>
          <p:cNvPicPr preferRelativeResize="0"/>
          <p:nvPr/>
        </p:nvPicPr>
        <p:blipFill rotWithShape="1">
          <a:blip r:embed="rId3">
            <a:alphaModFix/>
          </a:blip>
          <a:srcRect b="11066" l="0" r="0" t="11058"/>
          <a:stretch/>
        </p:blipFill>
        <p:spPr>
          <a:xfrm>
            <a:off x="5387075" y="2228250"/>
            <a:ext cx="3502925" cy="27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350" y="152400"/>
            <a:ext cx="2238008" cy="192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EDB821"/>
      </a:dk1>
      <a:lt1>
        <a:srgbClr val="FFFFFF"/>
      </a:lt1>
      <a:dk2>
        <a:srgbClr val="000000"/>
      </a:dk2>
      <a:lt2>
        <a:srgbClr val="EEC645"/>
      </a:lt2>
      <a:accent1>
        <a:srgbClr val="5C0E06"/>
      </a:accent1>
      <a:accent2>
        <a:srgbClr val="271409"/>
      </a:accent2>
      <a:accent3>
        <a:srgbClr val="5C0E06"/>
      </a:accent3>
      <a:accent4>
        <a:srgbClr val="C08E24"/>
      </a:accent4>
      <a:accent5>
        <a:srgbClr val="1F1106"/>
      </a:accent5>
      <a:accent6>
        <a:srgbClr val="804D17"/>
      </a:accent6>
      <a:hlink>
        <a:srgbClr val="9C9AAF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
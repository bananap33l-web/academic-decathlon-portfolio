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 Slab"/>
      <p:regular r:id="rId13"/>
      <p:bold r:id="rId14"/>
    </p:embeddedFon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Slab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font" Target="fonts/RobotoSlab-bold.fntdata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846f54d15e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846f54d15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846f54d15e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846f54d15e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846f54d15e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846f54d15e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846f54d15e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846f54d15e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846f54d15e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846f54d15e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846f54d15e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846f54d15e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Relationship Id="rId4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7.jpg"/><Relationship Id="rId5" Type="http://schemas.openxmlformats.org/officeDocument/2006/relationships/image" Target="../media/image9.gif"/><Relationship Id="rId6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3"/>
          <p:cNvGrpSpPr/>
          <p:nvPr/>
        </p:nvGrpSpPr>
        <p:grpSpPr>
          <a:xfrm>
            <a:off x="4343026" y="2425575"/>
            <a:ext cx="457933" cy="488378"/>
            <a:chOff x="914900" y="3806450"/>
            <a:chExt cx="451700" cy="481825"/>
          </a:xfrm>
        </p:grpSpPr>
        <p:sp>
          <p:nvSpPr>
            <p:cNvPr id="64" name="Google Shape;64;p13"/>
            <p:cNvSpPr/>
            <p:nvPr/>
          </p:nvSpPr>
          <p:spPr>
            <a:xfrm>
              <a:off x="914900" y="4174425"/>
              <a:ext cx="423400" cy="113850"/>
            </a:xfrm>
            <a:custGeom>
              <a:rect b="b" l="l" r="r" t="t"/>
              <a:pathLst>
                <a:path extrusionOk="0" h="4554" w="16936">
                  <a:moveTo>
                    <a:pt x="564" y="0"/>
                  </a:moveTo>
                  <a:cubicBezTo>
                    <a:pt x="250" y="0"/>
                    <a:pt x="0" y="250"/>
                    <a:pt x="0" y="563"/>
                  </a:cubicBezTo>
                  <a:cubicBezTo>
                    <a:pt x="0" y="877"/>
                    <a:pt x="250" y="1130"/>
                    <a:pt x="564" y="1130"/>
                  </a:cubicBezTo>
                  <a:lnTo>
                    <a:pt x="2259" y="1130"/>
                  </a:lnTo>
                  <a:lnTo>
                    <a:pt x="2259" y="2861"/>
                  </a:lnTo>
                  <a:cubicBezTo>
                    <a:pt x="2259" y="3795"/>
                    <a:pt x="3015" y="4553"/>
                    <a:pt x="3951" y="4553"/>
                  </a:cubicBezTo>
                  <a:cubicBezTo>
                    <a:pt x="4264" y="4553"/>
                    <a:pt x="4517" y="4300"/>
                    <a:pt x="4517" y="3990"/>
                  </a:cubicBezTo>
                  <a:lnTo>
                    <a:pt x="4517" y="1130"/>
                  </a:lnTo>
                  <a:lnTo>
                    <a:pt x="5646" y="1130"/>
                  </a:lnTo>
                  <a:lnTo>
                    <a:pt x="5646" y="1693"/>
                  </a:lnTo>
                  <a:cubicBezTo>
                    <a:pt x="5646" y="2629"/>
                    <a:pt x="6402" y="3424"/>
                    <a:pt x="7339" y="3424"/>
                  </a:cubicBezTo>
                  <a:cubicBezTo>
                    <a:pt x="7652" y="3424"/>
                    <a:pt x="7905" y="3171"/>
                    <a:pt x="7905" y="2861"/>
                  </a:cubicBezTo>
                  <a:lnTo>
                    <a:pt x="7905" y="1130"/>
                  </a:lnTo>
                  <a:lnTo>
                    <a:pt x="9034" y="1130"/>
                  </a:lnTo>
                  <a:lnTo>
                    <a:pt x="9034" y="3990"/>
                  </a:lnTo>
                  <a:cubicBezTo>
                    <a:pt x="9034" y="4300"/>
                    <a:pt x="9284" y="4553"/>
                    <a:pt x="9597" y="4553"/>
                  </a:cubicBezTo>
                  <a:cubicBezTo>
                    <a:pt x="9910" y="4553"/>
                    <a:pt x="10163" y="4300"/>
                    <a:pt x="10163" y="3990"/>
                  </a:cubicBezTo>
                  <a:lnTo>
                    <a:pt x="10163" y="1130"/>
                  </a:lnTo>
                  <a:lnTo>
                    <a:pt x="16373" y="1130"/>
                  </a:lnTo>
                  <a:cubicBezTo>
                    <a:pt x="16686" y="1130"/>
                    <a:pt x="16936" y="877"/>
                    <a:pt x="16936" y="563"/>
                  </a:cubicBezTo>
                  <a:cubicBezTo>
                    <a:pt x="16936" y="250"/>
                    <a:pt x="16686" y="0"/>
                    <a:pt x="16373" y="0"/>
                  </a:cubicBezTo>
                  <a:close/>
                </a:path>
              </a:pathLst>
            </a:custGeom>
            <a:solidFill>
              <a:srgbClr val="039B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999548" y="3806450"/>
              <a:ext cx="254100" cy="339775"/>
            </a:xfrm>
            <a:custGeom>
              <a:rect b="b" l="l" r="r" t="t"/>
              <a:pathLst>
                <a:path extrusionOk="0" h="13591" w="10164">
                  <a:moveTo>
                    <a:pt x="7563" y="2032"/>
                  </a:moveTo>
                  <a:cubicBezTo>
                    <a:pt x="7853" y="2032"/>
                    <a:pt x="8131" y="2256"/>
                    <a:pt x="8131" y="2596"/>
                  </a:cubicBezTo>
                  <a:cubicBezTo>
                    <a:pt x="8131" y="2937"/>
                    <a:pt x="7852" y="3163"/>
                    <a:pt x="7562" y="3163"/>
                  </a:cubicBezTo>
                  <a:cubicBezTo>
                    <a:pt x="7423" y="3163"/>
                    <a:pt x="7282" y="3111"/>
                    <a:pt x="7168" y="2997"/>
                  </a:cubicBezTo>
                  <a:cubicBezTo>
                    <a:pt x="6945" y="2777"/>
                    <a:pt x="6945" y="2418"/>
                    <a:pt x="7168" y="2199"/>
                  </a:cubicBezTo>
                  <a:cubicBezTo>
                    <a:pt x="7283" y="2083"/>
                    <a:pt x="7425" y="2032"/>
                    <a:pt x="7563" y="2032"/>
                  </a:cubicBezTo>
                  <a:close/>
                  <a:moveTo>
                    <a:pt x="7339" y="0"/>
                  </a:moveTo>
                  <a:cubicBezTo>
                    <a:pt x="5412" y="0"/>
                    <a:pt x="3759" y="1087"/>
                    <a:pt x="2901" y="2668"/>
                  </a:cubicBezTo>
                  <a:cubicBezTo>
                    <a:pt x="2852" y="2674"/>
                    <a:pt x="2804" y="2686"/>
                    <a:pt x="2762" y="2704"/>
                  </a:cubicBezTo>
                  <a:cubicBezTo>
                    <a:pt x="2602" y="2782"/>
                    <a:pt x="2431" y="2819"/>
                    <a:pt x="2260" y="2819"/>
                  </a:cubicBezTo>
                  <a:cubicBezTo>
                    <a:pt x="1967" y="2819"/>
                    <a:pt x="1678" y="2707"/>
                    <a:pt x="1458" y="2494"/>
                  </a:cubicBezTo>
                  <a:cubicBezTo>
                    <a:pt x="1247" y="2280"/>
                    <a:pt x="1127" y="1994"/>
                    <a:pt x="1130" y="1696"/>
                  </a:cubicBezTo>
                  <a:cubicBezTo>
                    <a:pt x="1130" y="1395"/>
                    <a:pt x="1247" y="1178"/>
                    <a:pt x="1458" y="964"/>
                  </a:cubicBezTo>
                  <a:cubicBezTo>
                    <a:pt x="1681" y="744"/>
                    <a:pt x="1681" y="386"/>
                    <a:pt x="1458" y="166"/>
                  </a:cubicBezTo>
                  <a:cubicBezTo>
                    <a:pt x="1348" y="56"/>
                    <a:pt x="1204" y="1"/>
                    <a:pt x="1059" y="1"/>
                  </a:cubicBezTo>
                  <a:cubicBezTo>
                    <a:pt x="915" y="1"/>
                    <a:pt x="770" y="56"/>
                    <a:pt x="660" y="166"/>
                  </a:cubicBezTo>
                  <a:cubicBezTo>
                    <a:pt x="236" y="594"/>
                    <a:pt x="1" y="1093"/>
                    <a:pt x="1" y="1696"/>
                  </a:cubicBezTo>
                  <a:cubicBezTo>
                    <a:pt x="1" y="2942"/>
                    <a:pt x="1010" y="3954"/>
                    <a:pt x="2259" y="3954"/>
                  </a:cubicBezTo>
                  <a:cubicBezTo>
                    <a:pt x="2307" y="3954"/>
                    <a:pt x="2353" y="3939"/>
                    <a:pt x="2401" y="3936"/>
                  </a:cubicBezTo>
                  <a:lnTo>
                    <a:pt x="2401" y="3936"/>
                  </a:lnTo>
                  <a:cubicBezTo>
                    <a:pt x="2319" y="4282"/>
                    <a:pt x="2274" y="4635"/>
                    <a:pt x="2265" y="4990"/>
                  </a:cubicBezTo>
                  <a:cubicBezTo>
                    <a:pt x="2976" y="4680"/>
                    <a:pt x="3741" y="4517"/>
                    <a:pt x="4518" y="4517"/>
                  </a:cubicBezTo>
                  <a:lnTo>
                    <a:pt x="5081" y="4517"/>
                  </a:lnTo>
                  <a:cubicBezTo>
                    <a:pt x="6017" y="4517"/>
                    <a:pt x="6773" y="5276"/>
                    <a:pt x="6776" y="6213"/>
                  </a:cubicBezTo>
                  <a:lnTo>
                    <a:pt x="6776" y="9073"/>
                  </a:lnTo>
                  <a:cubicBezTo>
                    <a:pt x="6776" y="10925"/>
                    <a:pt x="5864" y="12557"/>
                    <a:pt x="4482" y="13590"/>
                  </a:cubicBezTo>
                  <a:lnTo>
                    <a:pt x="6210" y="13590"/>
                  </a:lnTo>
                  <a:cubicBezTo>
                    <a:pt x="8393" y="13590"/>
                    <a:pt x="10164" y="11820"/>
                    <a:pt x="10164" y="9636"/>
                  </a:cubicBezTo>
                  <a:lnTo>
                    <a:pt x="101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999536" y="3948044"/>
              <a:ext cx="141175" cy="198625"/>
            </a:xfrm>
            <a:custGeom>
              <a:rect b="b" l="l" r="r" t="t"/>
              <a:pathLst>
                <a:path extrusionOk="0" h="7945" w="5647">
                  <a:moveTo>
                    <a:pt x="4518" y="0"/>
                  </a:moveTo>
                  <a:cubicBezTo>
                    <a:pt x="2021" y="0"/>
                    <a:pt x="1" y="2060"/>
                    <a:pt x="1" y="4556"/>
                  </a:cubicBezTo>
                  <a:lnTo>
                    <a:pt x="1" y="6815"/>
                  </a:lnTo>
                  <a:cubicBezTo>
                    <a:pt x="934" y="6812"/>
                    <a:pt x="1693" y="6056"/>
                    <a:pt x="1693" y="5120"/>
                  </a:cubicBezTo>
                  <a:cubicBezTo>
                    <a:pt x="1693" y="4806"/>
                    <a:pt x="1946" y="4556"/>
                    <a:pt x="2259" y="4556"/>
                  </a:cubicBezTo>
                  <a:cubicBezTo>
                    <a:pt x="2569" y="4556"/>
                    <a:pt x="2822" y="4806"/>
                    <a:pt x="2822" y="5120"/>
                  </a:cubicBezTo>
                  <a:cubicBezTo>
                    <a:pt x="2822" y="6547"/>
                    <a:pt x="1753" y="7718"/>
                    <a:pt x="377" y="7905"/>
                  </a:cubicBezTo>
                  <a:cubicBezTo>
                    <a:pt x="434" y="7929"/>
                    <a:pt x="501" y="7941"/>
                    <a:pt x="564" y="7944"/>
                  </a:cubicBezTo>
                  <a:lnTo>
                    <a:pt x="1130" y="7944"/>
                  </a:lnTo>
                  <a:cubicBezTo>
                    <a:pt x="3623" y="7944"/>
                    <a:pt x="5647" y="5921"/>
                    <a:pt x="5647" y="3427"/>
                  </a:cubicBezTo>
                  <a:lnTo>
                    <a:pt x="5647" y="567"/>
                  </a:lnTo>
                  <a:cubicBezTo>
                    <a:pt x="5647" y="253"/>
                    <a:pt x="5394" y="0"/>
                    <a:pt x="5081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1253675" y="3806450"/>
              <a:ext cx="112925" cy="90350"/>
            </a:xfrm>
            <a:custGeom>
              <a:rect b="b" l="l" r="r" t="t"/>
              <a:pathLst>
                <a:path extrusionOk="0" h="3614" w="4517">
                  <a:moveTo>
                    <a:pt x="0" y="0"/>
                  </a:moveTo>
                  <a:lnTo>
                    <a:pt x="0" y="1696"/>
                  </a:lnTo>
                  <a:cubicBezTo>
                    <a:pt x="142" y="1685"/>
                    <a:pt x="428" y="1669"/>
                    <a:pt x="771" y="1669"/>
                  </a:cubicBezTo>
                  <a:cubicBezTo>
                    <a:pt x="1415" y="1669"/>
                    <a:pt x="2264" y="1726"/>
                    <a:pt x="2749" y="1988"/>
                  </a:cubicBezTo>
                  <a:cubicBezTo>
                    <a:pt x="3355" y="2313"/>
                    <a:pt x="4062" y="3078"/>
                    <a:pt x="4517" y="3614"/>
                  </a:cubicBezTo>
                  <a:lnTo>
                    <a:pt x="4517" y="2259"/>
                  </a:lnTo>
                  <a:cubicBezTo>
                    <a:pt x="4517" y="1012"/>
                    <a:pt x="3505" y="0"/>
                    <a:pt x="2258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1253600" y="3876425"/>
              <a:ext cx="95025" cy="42975"/>
            </a:xfrm>
            <a:custGeom>
              <a:rect b="b" l="l" r="r" t="t"/>
              <a:pathLst>
                <a:path extrusionOk="0" h="1719" w="3801">
                  <a:moveTo>
                    <a:pt x="726" y="0"/>
                  </a:moveTo>
                  <a:cubicBezTo>
                    <a:pt x="478" y="0"/>
                    <a:pt x="239" y="9"/>
                    <a:pt x="42" y="23"/>
                  </a:cubicBezTo>
                  <a:lnTo>
                    <a:pt x="0" y="23"/>
                  </a:lnTo>
                  <a:lnTo>
                    <a:pt x="3" y="1718"/>
                  </a:lnTo>
                  <a:lnTo>
                    <a:pt x="3800" y="1718"/>
                  </a:lnTo>
                  <a:cubicBezTo>
                    <a:pt x="3379" y="1203"/>
                    <a:pt x="2692" y="438"/>
                    <a:pt x="2219" y="182"/>
                  </a:cubicBezTo>
                  <a:cubicBezTo>
                    <a:pt x="1969" y="49"/>
                    <a:pt x="1321" y="0"/>
                    <a:pt x="726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69" name="Google Shape;69;p13"/>
          <p:cNvSpPr txBox="1"/>
          <p:nvPr/>
        </p:nvSpPr>
        <p:spPr>
          <a:xfrm>
            <a:off x="0" y="4795800"/>
            <a:ext cx="15867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BC34A"/>
                </a:solidFill>
                <a:latin typeface="Roboto Slab"/>
                <a:ea typeface="Roboto Slab"/>
                <a:cs typeface="Roboto Slab"/>
                <a:sym typeface="Roboto Slab"/>
              </a:rPr>
              <a:t>By: Matija Benko</a:t>
            </a:r>
            <a:endParaRPr sz="1200">
              <a:solidFill>
                <a:srgbClr val="8BC34A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1586700" y="727525"/>
            <a:ext cx="59706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Elements of Art - Color (35-37)</a:t>
            </a:r>
            <a:endParaRPr sz="41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/>
          <p:nvPr/>
        </p:nvSpPr>
        <p:spPr>
          <a:xfrm>
            <a:off x="3610463" y="-811200"/>
            <a:ext cx="4362300" cy="3900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4009048" y="2998800"/>
            <a:ext cx="665700" cy="595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4"/>
          <p:cNvSpPr txBox="1"/>
          <p:nvPr>
            <p:ph type="title"/>
          </p:nvPr>
        </p:nvSpPr>
        <p:spPr>
          <a:xfrm>
            <a:off x="0" y="0"/>
            <a:ext cx="9144000" cy="90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ELEMENTS OF ART</a:t>
            </a:r>
            <a:endParaRPr sz="5000"/>
          </a:p>
        </p:txBody>
      </p:sp>
      <p:sp>
        <p:nvSpPr>
          <p:cNvPr id="78" name="Google Shape;78;p14"/>
          <p:cNvSpPr txBox="1"/>
          <p:nvPr>
            <p:ph idx="1" type="body"/>
          </p:nvPr>
        </p:nvSpPr>
        <p:spPr>
          <a:xfrm>
            <a:off x="-2625" y="747175"/>
            <a:ext cx="7380000" cy="43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Need to focus what sort of techniques the art piece uses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Line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Shape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Form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Space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Colo(u)r(can’t do [ :( ])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Texture</a:t>
            </a:r>
            <a:r>
              <a:rPr lang="en" sz="2500"/>
              <a:t>(can’t do [ :( ])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Ect.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This vocab. i</a:t>
            </a:r>
            <a:r>
              <a:rPr lang="en" sz="2500"/>
              <a:t>s needed to understand artwork</a:t>
            </a:r>
            <a:endParaRPr sz="2500"/>
          </a:p>
        </p:txBody>
      </p:sp>
      <p:pic>
        <p:nvPicPr>
          <p:cNvPr descr="Free download 40 Avatar the last Airbender Wallpaper for Download  [1024x576] for your Desktop, Mobile &amp; Tablet | Explore 72+ Avatar The Last  Airbender Wallpaper | Avatar Wallpapers, Avatar Wallpapers Free Download,  Avatar Phone Wallpaper" id="79" name="Google Shape;7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4800" y="1681775"/>
            <a:ext cx="2862225" cy="159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/>
          <p:nvPr/>
        </p:nvSpPr>
        <p:spPr>
          <a:xfrm>
            <a:off x="6447838" y="418100"/>
            <a:ext cx="4362300" cy="3900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 txBox="1"/>
          <p:nvPr>
            <p:ph type="title"/>
          </p:nvPr>
        </p:nvSpPr>
        <p:spPr>
          <a:xfrm>
            <a:off x="0" y="0"/>
            <a:ext cx="9144000" cy="90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latin typeface="Roboto"/>
                <a:ea typeface="Roboto"/>
                <a:cs typeface="Roboto"/>
                <a:sym typeface="Roboto"/>
              </a:rPr>
              <a:t>Line</a:t>
            </a:r>
            <a:endParaRPr sz="5000"/>
          </a:p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-2625" y="747175"/>
            <a:ext cx="8266800" cy="43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Basicest element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Any mark-making tool can make lines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Path of a point moving thru space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Have varying length, width(boldness), &amp; direction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Vert. lines move up(churches)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Horizont. lines are peaceful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Diagon. lines &amp; curves are energetic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Lines can be dashed(- - - -)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Can be edges/corners</a:t>
            </a:r>
            <a:endParaRPr sz="2500"/>
          </a:p>
        </p:txBody>
      </p:sp>
      <p:sp>
        <p:nvSpPr>
          <p:cNvPr id="87" name="Google Shape;87;p15"/>
          <p:cNvSpPr/>
          <p:nvPr/>
        </p:nvSpPr>
        <p:spPr>
          <a:xfrm>
            <a:off x="8125750" y="849675"/>
            <a:ext cx="242775" cy="182050"/>
          </a:xfrm>
          <a:custGeom>
            <a:rect b="b" l="l" r="r" t="t"/>
            <a:pathLst>
              <a:path extrusionOk="0" h="7282" w="9711">
                <a:moveTo>
                  <a:pt x="9711" y="0"/>
                </a:moveTo>
                <a:cubicBezTo>
                  <a:pt x="8902" y="315"/>
                  <a:pt x="6474" y="674"/>
                  <a:pt x="4855" y="1888"/>
                </a:cubicBezTo>
                <a:cubicBezTo>
                  <a:pt x="3237" y="3102"/>
                  <a:pt x="809" y="6383"/>
                  <a:pt x="0" y="7282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8" name="Google Shape;88;p15"/>
          <p:cNvSpPr/>
          <p:nvPr/>
        </p:nvSpPr>
        <p:spPr>
          <a:xfrm rot="3925880">
            <a:off x="8672641" y="1056002"/>
            <a:ext cx="242785" cy="182057"/>
          </a:xfrm>
          <a:custGeom>
            <a:rect b="b" l="l" r="r" t="t"/>
            <a:pathLst>
              <a:path extrusionOk="0" h="7282" w="9711">
                <a:moveTo>
                  <a:pt x="9711" y="0"/>
                </a:moveTo>
                <a:cubicBezTo>
                  <a:pt x="8902" y="315"/>
                  <a:pt x="6474" y="674"/>
                  <a:pt x="4855" y="1888"/>
                </a:cubicBezTo>
                <a:cubicBezTo>
                  <a:pt x="3237" y="3102"/>
                  <a:pt x="809" y="6383"/>
                  <a:pt x="0" y="7282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89" name="Google Shape;89;p15"/>
          <p:cNvCxnSpPr/>
          <p:nvPr/>
        </p:nvCxnSpPr>
        <p:spPr>
          <a:xfrm>
            <a:off x="8375250" y="613650"/>
            <a:ext cx="114600" cy="127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Grilled T-Bone Steaks with BBQ Rub" id="90" name="Google Shape;90;p15"/>
          <p:cNvPicPr preferRelativeResize="0"/>
          <p:nvPr/>
        </p:nvPicPr>
        <p:blipFill rotWithShape="1">
          <a:blip r:embed="rId3">
            <a:alphaModFix/>
          </a:blip>
          <a:srcRect b="10168" l="9910" r="6735" t="12563"/>
          <a:stretch/>
        </p:blipFill>
        <p:spPr>
          <a:xfrm>
            <a:off x="7169300" y="0"/>
            <a:ext cx="1969050" cy="136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" name="Google Shape;91;p15"/>
          <p:cNvCxnSpPr/>
          <p:nvPr/>
        </p:nvCxnSpPr>
        <p:spPr>
          <a:xfrm>
            <a:off x="7649675" y="613650"/>
            <a:ext cx="202200" cy="5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5"/>
          <p:cNvCxnSpPr/>
          <p:nvPr/>
        </p:nvCxnSpPr>
        <p:spPr>
          <a:xfrm>
            <a:off x="8458575" y="300750"/>
            <a:ext cx="101400" cy="6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5"/>
          <p:cNvSpPr/>
          <p:nvPr/>
        </p:nvSpPr>
        <p:spPr>
          <a:xfrm>
            <a:off x="7299025" y="472025"/>
            <a:ext cx="1024975" cy="434450"/>
          </a:xfrm>
          <a:custGeom>
            <a:rect b="b" l="l" r="r" t="t"/>
            <a:pathLst>
              <a:path extrusionOk="0" h="17378" w="40999">
                <a:moveTo>
                  <a:pt x="0" y="8902"/>
                </a:moveTo>
                <a:cubicBezTo>
                  <a:pt x="2293" y="10071"/>
                  <a:pt x="9395" y="14566"/>
                  <a:pt x="13756" y="15915"/>
                </a:cubicBezTo>
                <a:cubicBezTo>
                  <a:pt x="18117" y="17264"/>
                  <a:pt x="23736" y="17758"/>
                  <a:pt x="26164" y="16994"/>
                </a:cubicBezTo>
                <a:cubicBezTo>
                  <a:pt x="28592" y="16230"/>
                  <a:pt x="25850" y="14161"/>
                  <a:pt x="28322" y="11329"/>
                </a:cubicBezTo>
                <a:cubicBezTo>
                  <a:pt x="30795" y="8497"/>
                  <a:pt x="38886" y="1888"/>
                  <a:pt x="40999" y="0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94" name="Google Shape;94;p15"/>
          <p:cNvCxnSpPr/>
          <p:nvPr/>
        </p:nvCxnSpPr>
        <p:spPr>
          <a:xfrm flipH="1" rot="10800000">
            <a:off x="8618025" y="175400"/>
            <a:ext cx="445200" cy="2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" name="Google Shape;95;p15"/>
          <p:cNvCxnSpPr/>
          <p:nvPr/>
        </p:nvCxnSpPr>
        <p:spPr>
          <a:xfrm flipH="1" rot="-5400000">
            <a:off x="8200333" y="4102642"/>
            <a:ext cx="1367700" cy="2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Four basic elements (Slavic symbols fire, water, earth and air) Stock  Vector Image by ©Xennya #172210182" id="96" name="Google Shape;96;p15"/>
          <p:cNvPicPr preferRelativeResize="0"/>
          <p:nvPr/>
        </p:nvPicPr>
        <p:blipFill rotWithShape="1">
          <a:blip r:embed="rId4">
            <a:alphaModFix/>
          </a:blip>
          <a:srcRect b="5615" l="0" r="52233" t="49278"/>
          <a:stretch/>
        </p:blipFill>
        <p:spPr>
          <a:xfrm>
            <a:off x="7517327" y="3420000"/>
            <a:ext cx="1365648" cy="136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5856963" y="2288375"/>
            <a:ext cx="4362300" cy="3900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 txBox="1"/>
          <p:nvPr>
            <p:ph type="title"/>
          </p:nvPr>
        </p:nvSpPr>
        <p:spPr>
          <a:xfrm>
            <a:off x="0" y="0"/>
            <a:ext cx="9144000" cy="90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Shæpe</a:t>
            </a:r>
            <a:endParaRPr sz="5000"/>
          </a:p>
        </p:txBody>
      </p:sp>
      <p:pic>
        <p:nvPicPr>
          <p:cNvPr descr="ArtSEA: Banksy's art pops up in Seattle, without his consent | Crosscut" id="103" name="Google Shape;10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5375" y="6144"/>
            <a:ext cx="2978625" cy="223398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6"/>
          <p:cNvSpPr/>
          <p:nvPr/>
        </p:nvSpPr>
        <p:spPr>
          <a:xfrm>
            <a:off x="6938534" y="1452205"/>
            <a:ext cx="553800" cy="5061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/>
          <p:nvPr/>
        </p:nvSpPr>
        <p:spPr>
          <a:xfrm rot="1423681">
            <a:off x="7022897" y="1017989"/>
            <a:ext cx="468942" cy="506133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/>
          <p:nvPr/>
        </p:nvSpPr>
        <p:spPr>
          <a:xfrm rot="-9766407">
            <a:off x="7299246" y="1220897"/>
            <a:ext cx="210476" cy="231292"/>
          </a:xfrm>
          <a:custGeom>
            <a:rect b="b" l="l" r="r" t="t"/>
            <a:pathLst>
              <a:path extrusionOk="0" h="7100" w="6461">
                <a:moveTo>
                  <a:pt x="112" y="1907"/>
                </a:moveTo>
                <a:cubicBezTo>
                  <a:pt x="-337" y="783"/>
                  <a:pt x="2584" y="-565"/>
                  <a:pt x="3618" y="289"/>
                </a:cubicBezTo>
                <a:cubicBezTo>
                  <a:pt x="4652" y="1143"/>
                  <a:pt x="6899" y="6762"/>
                  <a:pt x="6315" y="7032"/>
                </a:cubicBezTo>
                <a:cubicBezTo>
                  <a:pt x="5731" y="7302"/>
                  <a:pt x="562" y="3031"/>
                  <a:pt x="112" y="1907"/>
                </a:cubicBezTo>
                <a:close/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7" name="Google Shape;107;p16"/>
          <p:cNvSpPr/>
          <p:nvPr/>
        </p:nvSpPr>
        <p:spPr>
          <a:xfrm rot="6616997">
            <a:off x="7549462" y="1114403"/>
            <a:ext cx="210467" cy="231282"/>
          </a:xfrm>
          <a:custGeom>
            <a:rect b="b" l="l" r="r" t="t"/>
            <a:pathLst>
              <a:path extrusionOk="0" h="7100" w="6461">
                <a:moveTo>
                  <a:pt x="112" y="1907"/>
                </a:moveTo>
                <a:cubicBezTo>
                  <a:pt x="-337" y="783"/>
                  <a:pt x="2584" y="-565"/>
                  <a:pt x="3618" y="289"/>
                </a:cubicBezTo>
                <a:cubicBezTo>
                  <a:pt x="4652" y="1143"/>
                  <a:pt x="6899" y="6762"/>
                  <a:pt x="6315" y="7032"/>
                </a:cubicBezTo>
                <a:cubicBezTo>
                  <a:pt x="5731" y="7302"/>
                  <a:pt x="562" y="3031"/>
                  <a:pt x="112" y="1907"/>
                </a:cubicBezTo>
                <a:close/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8" name="Google Shape;108;p16"/>
          <p:cNvSpPr/>
          <p:nvPr/>
        </p:nvSpPr>
        <p:spPr>
          <a:xfrm rot="1423800">
            <a:off x="7313243" y="705437"/>
            <a:ext cx="322791" cy="361323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 rot="5400000">
            <a:off x="7262769" y="1175821"/>
            <a:ext cx="90922" cy="108470"/>
          </a:xfrm>
          <a:custGeom>
            <a:rect b="b" l="l" r="r" t="t"/>
            <a:pathLst>
              <a:path extrusionOk="0" h="7100" w="6461">
                <a:moveTo>
                  <a:pt x="112" y="1907"/>
                </a:moveTo>
                <a:cubicBezTo>
                  <a:pt x="-337" y="783"/>
                  <a:pt x="2584" y="-565"/>
                  <a:pt x="3618" y="289"/>
                </a:cubicBezTo>
                <a:cubicBezTo>
                  <a:pt x="4652" y="1143"/>
                  <a:pt x="6899" y="6762"/>
                  <a:pt x="6315" y="7032"/>
                </a:cubicBezTo>
                <a:cubicBezTo>
                  <a:pt x="5731" y="7302"/>
                  <a:pt x="562" y="3031"/>
                  <a:pt x="112" y="1907"/>
                </a:cubicBezTo>
                <a:close/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descr="Four basic elements (Slavic symbols fire, water, earth and air) Stock  Vector Image by ©Xennya #172210182" id="110" name="Google Shape;110;p16"/>
          <p:cNvPicPr preferRelativeResize="0"/>
          <p:nvPr/>
        </p:nvPicPr>
        <p:blipFill rotWithShape="1">
          <a:blip r:embed="rId4">
            <a:alphaModFix/>
          </a:blip>
          <a:srcRect b="52006" l="0" r="51651" t="0"/>
          <a:stretch/>
        </p:blipFill>
        <p:spPr>
          <a:xfrm>
            <a:off x="6748825" y="2571750"/>
            <a:ext cx="1971375" cy="207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-2625" y="764150"/>
            <a:ext cx="6751500" cy="43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what defines the 2D area of an object(square is shape)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A drawn apple is a shape representing it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In 2D artwork, artist may try making illusion of form thru other techniques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if use math it is geometric(conveys order), if not, it is organic(living things are irregular shapes/forms)(conveys moving)</a:t>
            </a:r>
            <a:endParaRPr sz="2500"/>
          </a:p>
        </p:txBody>
      </p:sp>
      <p:sp>
        <p:nvSpPr>
          <p:cNvPr id="112" name="Google Shape;112;p16"/>
          <p:cNvSpPr/>
          <p:nvPr/>
        </p:nvSpPr>
        <p:spPr>
          <a:xfrm>
            <a:off x="6651425" y="982475"/>
            <a:ext cx="289915" cy="971962"/>
          </a:xfrm>
          <a:custGeom>
            <a:rect b="b" l="l" r="r" t="t"/>
            <a:pathLst>
              <a:path extrusionOk="0" h="42319" w="14271">
                <a:moveTo>
                  <a:pt x="12630" y="37089"/>
                </a:moveTo>
                <a:cubicBezTo>
                  <a:pt x="11346" y="36190"/>
                  <a:pt x="6722" y="38844"/>
                  <a:pt x="5694" y="35804"/>
                </a:cubicBezTo>
                <a:cubicBezTo>
                  <a:pt x="4667" y="32765"/>
                  <a:pt x="5095" y="24460"/>
                  <a:pt x="6465" y="18852"/>
                </a:cubicBezTo>
                <a:cubicBezTo>
                  <a:pt x="7835" y="13244"/>
                  <a:pt x="13186" y="5196"/>
                  <a:pt x="13914" y="2156"/>
                </a:cubicBezTo>
                <a:cubicBezTo>
                  <a:pt x="14642" y="-883"/>
                  <a:pt x="11431" y="59"/>
                  <a:pt x="10832" y="615"/>
                </a:cubicBezTo>
                <a:cubicBezTo>
                  <a:pt x="10233" y="1172"/>
                  <a:pt x="12031" y="1599"/>
                  <a:pt x="10318" y="5495"/>
                </a:cubicBezTo>
                <a:cubicBezTo>
                  <a:pt x="8606" y="9391"/>
                  <a:pt x="1841" y="18124"/>
                  <a:pt x="557" y="23989"/>
                </a:cubicBezTo>
                <a:cubicBezTo>
                  <a:pt x="-727" y="29854"/>
                  <a:pt x="472" y="37816"/>
                  <a:pt x="2612" y="40684"/>
                </a:cubicBezTo>
                <a:cubicBezTo>
                  <a:pt x="4753" y="43552"/>
                  <a:pt x="11730" y="41797"/>
                  <a:pt x="13400" y="41198"/>
                </a:cubicBezTo>
                <a:cubicBezTo>
                  <a:pt x="15070" y="40599"/>
                  <a:pt x="13914" y="37988"/>
                  <a:pt x="12630" y="37089"/>
                </a:cubicBezTo>
                <a:close/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3" name="Google Shape;113;p16"/>
          <p:cNvSpPr/>
          <p:nvPr/>
        </p:nvSpPr>
        <p:spPr>
          <a:xfrm rot="-4326153">
            <a:off x="6771991" y="955423"/>
            <a:ext cx="90929" cy="108466"/>
          </a:xfrm>
          <a:custGeom>
            <a:rect b="b" l="l" r="r" t="t"/>
            <a:pathLst>
              <a:path extrusionOk="0" h="7100" w="6461">
                <a:moveTo>
                  <a:pt x="112" y="1907"/>
                </a:moveTo>
                <a:cubicBezTo>
                  <a:pt x="-337" y="783"/>
                  <a:pt x="2584" y="-565"/>
                  <a:pt x="3618" y="289"/>
                </a:cubicBezTo>
                <a:cubicBezTo>
                  <a:pt x="4652" y="1143"/>
                  <a:pt x="6899" y="6762"/>
                  <a:pt x="6315" y="7032"/>
                </a:cubicBezTo>
                <a:cubicBezTo>
                  <a:pt x="5731" y="7302"/>
                  <a:pt x="562" y="3031"/>
                  <a:pt x="112" y="1907"/>
                </a:cubicBezTo>
                <a:close/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/>
          <p:nvPr/>
        </p:nvSpPr>
        <p:spPr>
          <a:xfrm>
            <a:off x="5455413" y="2294800"/>
            <a:ext cx="4362300" cy="3900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 txBox="1"/>
          <p:nvPr>
            <p:ph type="title"/>
          </p:nvPr>
        </p:nvSpPr>
        <p:spPr>
          <a:xfrm>
            <a:off x="0" y="0"/>
            <a:ext cx="9144000" cy="90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Form</a:t>
            </a:r>
            <a:endParaRPr sz="5000"/>
          </a:p>
        </p:txBody>
      </p:sp>
      <p:sp>
        <p:nvSpPr>
          <p:cNvPr id="120" name="Google Shape;120;p17"/>
          <p:cNvSpPr txBox="1"/>
          <p:nvPr>
            <p:ph idx="1" type="body"/>
          </p:nvPr>
        </p:nvSpPr>
        <p:spPr>
          <a:xfrm>
            <a:off x="-2625" y="900000"/>
            <a:ext cx="6168000" cy="42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Related to Shape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what defines the 3D volume of an object(cube is form)</a:t>
            </a:r>
            <a:endParaRPr sz="2500"/>
          </a:p>
          <a:p>
            <a:pPr indent="-387350" lvl="2" marL="1371600" rtl="0" algn="l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" sz="2500"/>
              <a:t>A molded</a:t>
            </a:r>
            <a:r>
              <a:rPr lang="en" sz="2500"/>
              <a:t> apple made of clay is a form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Forms can also be geometric/organic</a:t>
            </a:r>
            <a:endParaRPr sz="2500"/>
          </a:p>
        </p:txBody>
      </p:sp>
      <p:pic>
        <p:nvPicPr>
          <p:cNvPr descr="Four basic elements (Slavic symbols fire, water, earth and air) Stock  Vector Image by ©Xennya #172210182" id="121" name="Google Shape;121;p17"/>
          <p:cNvPicPr preferRelativeResize="0"/>
          <p:nvPr/>
        </p:nvPicPr>
        <p:blipFill rotWithShape="1">
          <a:blip r:embed="rId3">
            <a:alphaModFix/>
          </a:blip>
          <a:srcRect b="7684" l="52436" r="1599" t="49602"/>
          <a:stretch/>
        </p:blipFill>
        <p:spPr>
          <a:xfrm>
            <a:off x="7191775" y="3178575"/>
            <a:ext cx="1791700" cy="1765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Z Cube Bandaged A 3x3 Stickerless → MasterCubeStore" id="122" name="Google Shape;12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1475" y="0"/>
            <a:ext cx="2202525" cy="220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8"/>
          <p:cNvPicPr preferRelativeResize="0"/>
          <p:nvPr/>
        </p:nvPicPr>
        <p:blipFill rotWithShape="1">
          <a:blip r:embed="rId3">
            <a:alphaModFix/>
          </a:blip>
          <a:srcRect b="1349" l="553" r="573" t="850"/>
          <a:stretch/>
        </p:blipFill>
        <p:spPr>
          <a:xfrm>
            <a:off x="7519400" y="3428288"/>
            <a:ext cx="1624601" cy="95108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/>
          <p:nvPr/>
        </p:nvSpPr>
        <p:spPr>
          <a:xfrm>
            <a:off x="-1755762" y="2256275"/>
            <a:ext cx="4362300" cy="3900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 txBox="1"/>
          <p:nvPr>
            <p:ph type="title"/>
          </p:nvPr>
        </p:nvSpPr>
        <p:spPr>
          <a:xfrm>
            <a:off x="0" y="0"/>
            <a:ext cx="9144000" cy="90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Spæce &amp; Perspective</a:t>
            </a:r>
            <a:endParaRPr sz="5000"/>
          </a:p>
        </p:txBody>
      </p:sp>
      <p:sp>
        <p:nvSpPr>
          <p:cNvPr id="130" name="Google Shape;130;p18"/>
          <p:cNvSpPr txBox="1"/>
          <p:nvPr>
            <p:ph idx="1" type="body"/>
          </p:nvPr>
        </p:nvSpPr>
        <p:spPr>
          <a:xfrm>
            <a:off x="-2625" y="607450"/>
            <a:ext cx="9144000" cy="453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Space - Area in artwork(Associated w/ organization of objects)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Objects occupy + space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Space not occupied is - space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Perspective - fake depth in 2D art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Shading, highlighting borders to copy how light shining objects give depth, place objects lower/higher, overlap objects/change size &amp; detail make them close/far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Aerial perspective - technique regards particles change appearance of things for afar</a:t>
            </a:r>
            <a:endParaRPr sz="2500"/>
          </a:p>
        </p:txBody>
      </p:sp>
      <p:pic>
        <p:nvPicPr>
          <p:cNvPr descr="Four basic elements (Slavic symbols fire, water, earth and air) Stock  Vector Image by ©Xennya #172210182" id="131" name="Google Shape;131;p18"/>
          <p:cNvPicPr preferRelativeResize="0"/>
          <p:nvPr/>
        </p:nvPicPr>
        <p:blipFill rotWithShape="1">
          <a:blip r:embed="rId4">
            <a:alphaModFix/>
          </a:blip>
          <a:srcRect b="56252" l="52435" r="4539" t="3969"/>
          <a:stretch/>
        </p:blipFill>
        <p:spPr>
          <a:xfrm>
            <a:off x="5695750" y="1305325"/>
            <a:ext cx="1624600" cy="1592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ojo Anime GIF - Jojo Anime Yes Yes Yes GIFs" id="132" name="Google Shape;13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01950" y="1390562"/>
            <a:ext cx="1342050" cy="75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 txBox="1"/>
          <p:nvPr/>
        </p:nvSpPr>
        <p:spPr>
          <a:xfrm>
            <a:off x="8122075" y="162075"/>
            <a:ext cx="876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>
                <a:latin typeface="Roboto"/>
                <a:ea typeface="Roboto"/>
                <a:cs typeface="Roboto"/>
                <a:sym typeface="Roboto"/>
              </a:rPr>
              <a:t>3D art includes </a:t>
            </a:r>
            <a:r>
              <a:rPr lang="en" sz="400">
                <a:latin typeface="Roboto"/>
                <a:ea typeface="Roboto"/>
                <a:cs typeface="Roboto"/>
                <a:sym typeface="Roboto"/>
              </a:rPr>
              <a:t>architecture</a:t>
            </a:r>
            <a:r>
              <a:rPr lang="en" sz="400">
                <a:latin typeface="Roboto"/>
                <a:ea typeface="Roboto"/>
                <a:cs typeface="Roboto"/>
                <a:sym typeface="Roboto"/>
              </a:rPr>
              <a:t>, sculpture &amp; ceramic objects. Sculptures can be freestanding/relief</a:t>
            </a:r>
            <a:endParaRPr sz="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Privacy as the new playing field, iPhone hype and how to survive in the  Apple Prison – Gregory Bufithis" id="134" name="Google Shape;13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95200" y="398638"/>
            <a:ext cx="136975" cy="10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329350" y="0"/>
            <a:ext cx="8712900" cy="445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0"/>
              <a:t>Thank You!</a:t>
            </a:r>
            <a:endParaRPr sz="15500"/>
          </a:p>
        </p:txBody>
      </p:sp>
      <p:pic>
        <p:nvPicPr>
          <p:cNvPr descr="Bird Birds GIF - Bird Birds Birt GIFs" id="140" name="Google Shape;14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8525" y="1598925"/>
            <a:ext cx="4623275" cy="350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
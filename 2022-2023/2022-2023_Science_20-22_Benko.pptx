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ff58aa0bf9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ff58aa0bf9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f58aa0bf9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f58aa0bf9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5f9de7ebd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5f9de7ebd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f58aa0bf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f58aa0bf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ff58aa0bf9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ff58aa0bf9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481725" y="1331450"/>
            <a:ext cx="4180500" cy="17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335000" y="3257551"/>
            <a:ext cx="24738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4007825" y="1945343"/>
            <a:ext cx="4535700" cy="82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5621050" y="2620363"/>
            <a:ext cx="2922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2595072" y="2093275"/>
            <a:ext cx="10530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2480" y="1297750"/>
            <a:ext cx="3128100" cy="290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  <a:defRPr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2pPr>
            <a:lvl3pPr indent="-323850" lvl="2" marL="1371600">
              <a:spcBef>
                <a:spcPts val="1600"/>
              </a:spcBef>
              <a:spcAft>
                <a:spcPts val="0"/>
              </a:spcAft>
              <a:buSzPts val="1500"/>
              <a:buFont typeface="Nunito"/>
              <a:buChar char="■"/>
              <a:defRPr/>
            </a:lvl3pPr>
            <a:lvl4pPr indent="-323850" lvl="3" marL="1828800">
              <a:spcBef>
                <a:spcPts val="1600"/>
              </a:spcBef>
              <a:spcAft>
                <a:spcPts val="0"/>
              </a:spcAft>
              <a:buSzPts val="1500"/>
              <a:buFont typeface="Nunito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/>
            </a:lvl6pPr>
            <a:lvl7pPr indent="-311150" lvl="6" marL="3200400"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●"/>
              <a:defRPr/>
            </a:lvl7pPr>
            <a:lvl8pPr indent="-311150" lvl="7" marL="3657600"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 flipH="1">
            <a:off x="5408076" y="1087185"/>
            <a:ext cx="225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 flipH="1">
            <a:off x="1483662" y="4161895"/>
            <a:ext cx="2250000" cy="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ctrTitle"/>
          </p:nvPr>
        </p:nvSpPr>
        <p:spPr>
          <a:xfrm flipH="1">
            <a:off x="1505901" y="3702014"/>
            <a:ext cx="2205600" cy="62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 flipH="1">
            <a:off x="5408076" y="1497548"/>
            <a:ext cx="2250000" cy="6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4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subTitle"/>
          </p:nvPr>
        </p:nvSpPr>
        <p:spPr>
          <a:xfrm flipH="1">
            <a:off x="546575" y="2518225"/>
            <a:ext cx="8050800" cy="18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aleway"/>
              <a:buAutoNum type="arabicPeriod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rabicPeriod"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rabicPeriod"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208600" y="1016100"/>
            <a:ext cx="4726800" cy="31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625025" y="35533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625025" y="1331190"/>
            <a:ext cx="3375300" cy="14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ctrTitle"/>
          </p:nvPr>
        </p:nvSpPr>
        <p:spPr>
          <a:xfrm flipH="1">
            <a:off x="616848" y="1589117"/>
            <a:ext cx="3301800" cy="13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1" type="subTitle"/>
          </p:nvPr>
        </p:nvSpPr>
        <p:spPr>
          <a:xfrm flipH="1">
            <a:off x="616948" y="2831770"/>
            <a:ext cx="23313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">
  <p:cSld name="CUSTOM_1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625844" y="195325"/>
            <a:ext cx="2649300" cy="18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ctrTitle"/>
          </p:nvPr>
        </p:nvSpPr>
        <p:spPr>
          <a:xfrm flipH="1">
            <a:off x="773250" y="1735721"/>
            <a:ext cx="2504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1" name="Google Shape;41;p12"/>
          <p:cNvSpPr txBox="1"/>
          <p:nvPr>
            <p:ph idx="1" type="subTitle"/>
          </p:nvPr>
        </p:nvSpPr>
        <p:spPr>
          <a:xfrm flipH="1">
            <a:off x="773250" y="2243946"/>
            <a:ext cx="25041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hasCustomPrompt="1" idx="2" type="title"/>
          </p:nvPr>
        </p:nvSpPr>
        <p:spPr>
          <a:xfrm>
            <a:off x="1760724" y="1238601"/>
            <a:ext cx="5292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12"/>
          <p:cNvSpPr txBox="1"/>
          <p:nvPr>
            <p:ph idx="3" type="ctrTitle"/>
          </p:nvPr>
        </p:nvSpPr>
        <p:spPr>
          <a:xfrm flipH="1">
            <a:off x="3379651" y="1735789"/>
            <a:ext cx="2384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4" name="Google Shape;44;p12"/>
          <p:cNvSpPr txBox="1"/>
          <p:nvPr>
            <p:ph idx="4" type="subTitle"/>
          </p:nvPr>
        </p:nvSpPr>
        <p:spPr>
          <a:xfrm flipH="1">
            <a:off x="3277350" y="2243949"/>
            <a:ext cx="25893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hasCustomPrompt="1" idx="5" type="title"/>
          </p:nvPr>
        </p:nvSpPr>
        <p:spPr>
          <a:xfrm>
            <a:off x="4098299" y="1238612"/>
            <a:ext cx="9474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6" type="ctrTitle"/>
          </p:nvPr>
        </p:nvSpPr>
        <p:spPr>
          <a:xfrm flipH="1">
            <a:off x="5792712" y="1742097"/>
            <a:ext cx="245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7" type="subTitle"/>
          </p:nvPr>
        </p:nvSpPr>
        <p:spPr>
          <a:xfrm flipH="1">
            <a:off x="5724613" y="2243940"/>
            <a:ext cx="25893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hasCustomPrompt="1" idx="8" type="title"/>
          </p:nvPr>
        </p:nvSpPr>
        <p:spPr>
          <a:xfrm>
            <a:off x="6492612" y="1239070"/>
            <a:ext cx="10533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9" type="ctrTitle"/>
          </p:nvPr>
        </p:nvSpPr>
        <p:spPr>
          <a:xfrm flipH="1">
            <a:off x="2042356" y="3407989"/>
            <a:ext cx="245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3" type="subTitle"/>
          </p:nvPr>
        </p:nvSpPr>
        <p:spPr>
          <a:xfrm flipH="1">
            <a:off x="2042356" y="3918766"/>
            <a:ext cx="24531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hasCustomPrompt="1" idx="14" type="title"/>
          </p:nvPr>
        </p:nvSpPr>
        <p:spPr>
          <a:xfrm>
            <a:off x="2795206" y="2903084"/>
            <a:ext cx="9474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5" type="ctrTitle"/>
          </p:nvPr>
        </p:nvSpPr>
        <p:spPr>
          <a:xfrm flipH="1">
            <a:off x="4571146" y="3407989"/>
            <a:ext cx="2453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6" type="subTitle"/>
          </p:nvPr>
        </p:nvSpPr>
        <p:spPr>
          <a:xfrm flipH="1">
            <a:off x="4605346" y="3918766"/>
            <a:ext cx="23847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hasCustomPrompt="1" idx="17" type="title"/>
          </p:nvPr>
        </p:nvSpPr>
        <p:spPr>
          <a:xfrm>
            <a:off x="5323996" y="2903084"/>
            <a:ext cx="9474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2"/>
          <p:cNvSpPr txBox="1"/>
          <p:nvPr>
            <p:ph idx="18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 flipH="1">
            <a:off x="6552430" y="2010857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 flipH="1">
            <a:off x="6472706" y="2473075"/>
            <a:ext cx="17199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3"/>
          <p:cNvSpPr txBox="1"/>
          <p:nvPr>
            <p:ph idx="2" type="ctrTitle"/>
          </p:nvPr>
        </p:nvSpPr>
        <p:spPr>
          <a:xfrm flipH="1">
            <a:off x="3791699" y="2463578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3" type="subTitle"/>
          </p:nvPr>
        </p:nvSpPr>
        <p:spPr>
          <a:xfrm flipH="1">
            <a:off x="3791699" y="2938421"/>
            <a:ext cx="1560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3"/>
          <p:cNvSpPr txBox="1"/>
          <p:nvPr>
            <p:ph idx="4" type="ctrTitle"/>
          </p:nvPr>
        </p:nvSpPr>
        <p:spPr>
          <a:xfrm flipH="1">
            <a:off x="1071599" y="2010857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5" type="subTitle"/>
          </p:nvPr>
        </p:nvSpPr>
        <p:spPr>
          <a:xfrm flipH="1">
            <a:off x="1071600" y="2473075"/>
            <a:ext cx="1560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3"/>
          <p:cNvSpPr txBox="1"/>
          <p:nvPr>
            <p:ph idx="6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 flipH="1">
            <a:off x="5126168" y="3534082"/>
            <a:ext cx="1869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 flipH="1">
            <a:off x="5126168" y="296685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4"/>
          <p:cNvSpPr txBox="1"/>
          <p:nvPr>
            <p:ph idx="2" type="ctrTitle"/>
          </p:nvPr>
        </p:nvSpPr>
        <p:spPr>
          <a:xfrm flipH="1">
            <a:off x="5150318" y="2085436"/>
            <a:ext cx="18210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 flipH="1">
            <a:off x="5126168" y="151715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4"/>
          <p:cNvSpPr txBox="1"/>
          <p:nvPr>
            <p:ph idx="4" type="ctrTitle"/>
          </p:nvPr>
        </p:nvSpPr>
        <p:spPr>
          <a:xfrm flipH="1">
            <a:off x="2241967" y="2088936"/>
            <a:ext cx="17937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5" type="subTitle"/>
          </p:nvPr>
        </p:nvSpPr>
        <p:spPr>
          <a:xfrm flipH="1">
            <a:off x="2204167" y="151716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4"/>
          <p:cNvSpPr txBox="1"/>
          <p:nvPr>
            <p:ph idx="6" type="ctrTitle"/>
          </p:nvPr>
        </p:nvSpPr>
        <p:spPr>
          <a:xfrm flipH="1">
            <a:off x="2204167" y="3534082"/>
            <a:ext cx="1869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7" type="subTitle"/>
          </p:nvPr>
        </p:nvSpPr>
        <p:spPr>
          <a:xfrm flipH="1">
            <a:off x="2204167" y="2966850"/>
            <a:ext cx="18693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3" name="Google Shape;73;p14"/>
          <p:cNvSpPr txBox="1"/>
          <p:nvPr>
            <p:ph idx="8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ms 2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 flipH="1">
            <a:off x="989230" y="2431689"/>
            <a:ext cx="2012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 flipH="1">
            <a:off x="715630" y="2828489"/>
            <a:ext cx="2285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5"/>
          <p:cNvSpPr txBox="1"/>
          <p:nvPr>
            <p:ph idx="2" type="ctrTitle"/>
          </p:nvPr>
        </p:nvSpPr>
        <p:spPr>
          <a:xfrm flipH="1">
            <a:off x="5754257" y="3249841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3" type="subTitle"/>
          </p:nvPr>
        </p:nvSpPr>
        <p:spPr>
          <a:xfrm flipH="1">
            <a:off x="5754257" y="3646373"/>
            <a:ext cx="2285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5"/>
          <p:cNvSpPr txBox="1"/>
          <p:nvPr>
            <p:ph idx="4" type="ctrTitle"/>
          </p:nvPr>
        </p:nvSpPr>
        <p:spPr>
          <a:xfrm flipH="1">
            <a:off x="6095335" y="1398079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5" type="subTitle"/>
          </p:nvPr>
        </p:nvSpPr>
        <p:spPr>
          <a:xfrm flipH="1">
            <a:off x="6095335" y="1794611"/>
            <a:ext cx="2285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1" name="Google Shape;81;p15"/>
          <p:cNvSpPr txBox="1"/>
          <p:nvPr>
            <p:ph idx="6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ctrTitle"/>
          </p:nvPr>
        </p:nvSpPr>
        <p:spPr>
          <a:xfrm flipH="1">
            <a:off x="2543653" y="1245955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 flipH="1">
            <a:off x="2266603" y="1627785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" name="Google Shape;85;p16"/>
          <p:cNvSpPr txBox="1"/>
          <p:nvPr>
            <p:ph idx="2" type="ctrTitle"/>
          </p:nvPr>
        </p:nvSpPr>
        <p:spPr>
          <a:xfrm flipH="1">
            <a:off x="2543653" y="3575283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3" type="subTitle"/>
          </p:nvPr>
        </p:nvSpPr>
        <p:spPr>
          <a:xfrm flipH="1">
            <a:off x="2266608" y="3958300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7" name="Google Shape;87;p16"/>
          <p:cNvSpPr txBox="1"/>
          <p:nvPr>
            <p:ph idx="4" type="ctrTitle"/>
          </p:nvPr>
        </p:nvSpPr>
        <p:spPr>
          <a:xfrm flipH="1">
            <a:off x="2543653" y="2410347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5" type="subTitle"/>
          </p:nvPr>
        </p:nvSpPr>
        <p:spPr>
          <a:xfrm flipH="1">
            <a:off x="2266608" y="2792175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9" name="Google Shape;89;p16"/>
          <p:cNvSpPr txBox="1"/>
          <p:nvPr>
            <p:ph idx="6" type="ctrTitle"/>
          </p:nvPr>
        </p:nvSpPr>
        <p:spPr>
          <a:xfrm flipH="1">
            <a:off x="5039747" y="2410346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7" type="subTitle"/>
          </p:nvPr>
        </p:nvSpPr>
        <p:spPr>
          <a:xfrm flipH="1">
            <a:off x="4762697" y="2793356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" name="Google Shape;91;p16"/>
          <p:cNvSpPr txBox="1"/>
          <p:nvPr>
            <p:ph idx="8" type="ctrTitle"/>
          </p:nvPr>
        </p:nvSpPr>
        <p:spPr>
          <a:xfrm flipH="1">
            <a:off x="5039747" y="3575283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9" type="subTitle"/>
          </p:nvPr>
        </p:nvSpPr>
        <p:spPr>
          <a:xfrm flipH="1">
            <a:off x="4762697" y="3958293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6"/>
          <p:cNvSpPr txBox="1"/>
          <p:nvPr>
            <p:ph idx="13" type="ctrTitle"/>
          </p:nvPr>
        </p:nvSpPr>
        <p:spPr>
          <a:xfrm flipH="1">
            <a:off x="5039747" y="1245955"/>
            <a:ext cx="1560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4" type="subTitle"/>
          </p:nvPr>
        </p:nvSpPr>
        <p:spPr>
          <a:xfrm flipH="1">
            <a:off x="4762697" y="1627785"/>
            <a:ext cx="21147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" name="Google Shape;95;p16"/>
          <p:cNvSpPr txBox="1"/>
          <p:nvPr>
            <p:ph idx="15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2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ctrTitle"/>
          </p:nvPr>
        </p:nvSpPr>
        <p:spPr>
          <a:xfrm flipH="1">
            <a:off x="612075" y="1881706"/>
            <a:ext cx="4182900" cy="11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" type="subTitle"/>
          </p:nvPr>
        </p:nvSpPr>
        <p:spPr>
          <a:xfrm flipH="1">
            <a:off x="612075" y="2837144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7"/>
          <p:cNvSpPr txBox="1"/>
          <p:nvPr>
            <p:ph hasCustomPrompt="1" idx="2" type="title"/>
          </p:nvPr>
        </p:nvSpPr>
        <p:spPr>
          <a:xfrm flipH="1">
            <a:off x="4880701" y="2478400"/>
            <a:ext cx="13119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3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619650" y="2247705"/>
            <a:ext cx="2559900" cy="75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619650" y="2837337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8"/>
          <p:cNvSpPr txBox="1"/>
          <p:nvPr>
            <p:ph hasCustomPrompt="1" idx="2" type="title"/>
          </p:nvPr>
        </p:nvSpPr>
        <p:spPr>
          <a:xfrm>
            <a:off x="4145650" y="2884438"/>
            <a:ext cx="22407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"/>
              <a:buNone/>
              <a:defRPr sz="5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5">
  <p:cSld name="CUSTOM_6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ctrTitle"/>
          </p:nvPr>
        </p:nvSpPr>
        <p:spPr>
          <a:xfrm flipH="1">
            <a:off x="2726850" y="2897239"/>
            <a:ext cx="3690300" cy="4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" name="Google Shape;106;p19"/>
          <p:cNvSpPr txBox="1"/>
          <p:nvPr>
            <p:ph idx="1" type="subTitle"/>
          </p:nvPr>
        </p:nvSpPr>
        <p:spPr>
          <a:xfrm flipH="1">
            <a:off x="3292050" y="3488360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9"/>
          <p:cNvSpPr txBox="1"/>
          <p:nvPr>
            <p:ph hasCustomPrompt="1" idx="2" type="title"/>
          </p:nvPr>
        </p:nvSpPr>
        <p:spPr>
          <a:xfrm flipH="1">
            <a:off x="3451650" y="1351346"/>
            <a:ext cx="22407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4">
  <p:cSld name="CUSTOM_6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 flipH="1">
            <a:off x="4847211" y="2553180"/>
            <a:ext cx="36903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20"/>
          <p:cNvSpPr txBox="1"/>
          <p:nvPr>
            <p:ph idx="1" type="subTitle"/>
          </p:nvPr>
        </p:nvSpPr>
        <p:spPr>
          <a:xfrm flipH="1">
            <a:off x="5977611" y="2837721"/>
            <a:ext cx="25599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hasCustomPrompt="1" idx="2" type="title"/>
          </p:nvPr>
        </p:nvSpPr>
        <p:spPr>
          <a:xfrm flipH="1">
            <a:off x="2133750" y="2079350"/>
            <a:ext cx="20001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500"/>
              <a:buFont typeface="Fira Sans Extra Condensed"/>
              <a:buNone/>
              <a:defRPr sz="55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CUSTOM_13">
    <p:bg>
      <p:bgPr>
        <a:solidFill>
          <a:schemeClr val="l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2069575" y="1357150"/>
            <a:ext cx="51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"/>
              <a:buChar char="●"/>
              <a:defRPr sz="1400"/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SzPts val="1600"/>
              <a:buFont typeface="Nunito"/>
              <a:buChar char="○"/>
              <a:defRPr/>
            </a:lvl2pPr>
            <a:lvl3pPr indent="-323850" lvl="2" marL="1371600" rtl="0">
              <a:spcBef>
                <a:spcPts val="1600"/>
              </a:spcBef>
              <a:spcAft>
                <a:spcPts val="0"/>
              </a:spcAft>
              <a:buSzPts val="1500"/>
              <a:buFont typeface="Nunito"/>
              <a:buChar char="■"/>
              <a:defRPr/>
            </a:lvl3pPr>
            <a:lvl4pPr indent="-323850" lvl="3" marL="1828800" rtl="0">
              <a:spcBef>
                <a:spcPts val="1600"/>
              </a:spcBef>
              <a:spcAft>
                <a:spcPts val="0"/>
              </a:spcAft>
              <a:buSzPts val="1500"/>
              <a:buFont typeface="Nunito"/>
              <a:buChar char="●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●"/>
              <a:defRPr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625025" y="35533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7" name="Google Shape;117;p22"/>
          <p:cNvSpPr txBox="1"/>
          <p:nvPr>
            <p:ph idx="1" type="subTitle"/>
          </p:nvPr>
        </p:nvSpPr>
        <p:spPr>
          <a:xfrm>
            <a:off x="625025" y="1331190"/>
            <a:ext cx="3375300" cy="14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22"/>
          <p:cNvSpPr txBox="1"/>
          <p:nvPr/>
        </p:nvSpPr>
        <p:spPr>
          <a:xfrm>
            <a:off x="621618" y="3589129"/>
            <a:ext cx="24180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Hind Vadodara"/>
                <a:ea typeface="Hind Vadodara"/>
                <a:cs typeface="Hind Vadodara"/>
                <a:sym typeface="Hind Vadoda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Hind Vadodara"/>
                <a:ea typeface="Hind Vadodara"/>
                <a:cs typeface="Hind Vadodara"/>
                <a:sym typeface="Hind Vadoda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, and infographics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Hind Vadodara"/>
                <a:ea typeface="Hind Vadodara"/>
                <a:cs typeface="Hind Vadodara"/>
                <a:sym typeface="Hind Vadoda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1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"/>
              <a:buNone/>
              <a:defRPr sz="24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 Vadodara"/>
              <a:buChar char="●"/>
              <a:defRPr sz="18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Vadodara"/>
              <a:buChar char="○"/>
              <a:defRPr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"/>
              <a:buChar char="■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"/>
              <a:buChar char="●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"/>
              <a:buChar char="○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"/>
              <a:buChar char="■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"/>
              <a:buChar char="●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 Vadodara"/>
              <a:buChar char="○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Hind Vadodara"/>
              <a:buChar char="■"/>
              <a:defRPr sz="12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"/>
              <a:buNone/>
              <a:defRPr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jpg"/><Relationship Id="rId5" Type="http://schemas.openxmlformats.org/officeDocument/2006/relationships/image" Target="../media/image13.jpg"/><Relationship Id="rId6" Type="http://schemas.openxmlformats.org/officeDocument/2006/relationships/image" Target="../media/image29.jp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>
            <p:ph idx="1" type="subTitle"/>
          </p:nvPr>
        </p:nvSpPr>
        <p:spPr>
          <a:xfrm>
            <a:off x="0" y="4666201"/>
            <a:ext cx="24738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Written by Matija Benko</a:t>
            </a:r>
            <a:endParaRPr/>
          </a:p>
        </p:txBody>
      </p:sp>
      <p:sp>
        <p:nvSpPr>
          <p:cNvPr id="130" name="Google Shape;130;p27"/>
          <p:cNvSpPr txBox="1"/>
          <p:nvPr>
            <p:ph type="ctrTitle"/>
          </p:nvPr>
        </p:nvSpPr>
        <p:spPr>
          <a:xfrm>
            <a:off x="913600" y="-348575"/>
            <a:ext cx="8350500" cy="134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6B65"/>
                </a:solidFill>
                <a:latin typeface="Georgia"/>
                <a:ea typeface="Georgia"/>
                <a:cs typeface="Georgia"/>
                <a:sym typeface="Georgia"/>
              </a:rPr>
              <a:t>The Effect of Bond Types on the Structures of Solid Compounds - Molecular Models(pg 20-22)</a:t>
            </a:r>
            <a:endParaRPr b="1" sz="7400">
              <a:solidFill>
                <a:srgbClr val="FF6B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1" name="Google Shape;131;p27"/>
          <p:cNvGrpSpPr/>
          <p:nvPr/>
        </p:nvGrpSpPr>
        <p:grpSpPr>
          <a:xfrm>
            <a:off x="95978" y="758595"/>
            <a:ext cx="278296" cy="239236"/>
            <a:chOff x="971350" y="3806450"/>
            <a:chExt cx="395250" cy="339775"/>
          </a:xfrm>
        </p:grpSpPr>
        <p:sp>
          <p:nvSpPr>
            <p:cNvPr id="132" name="Google Shape;132;p27"/>
            <p:cNvSpPr/>
            <p:nvPr/>
          </p:nvSpPr>
          <p:spPr>
            <a:xfrm>
              <a:off x="971350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971350" y="3947600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1253675" y="3806450"/>
              <a:ext cx="112925" cy="90350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1253600" y="3876425"/>
              <a:ext cx="95025" cy="42975"/>
            </a:xfrm>
            <a:custGeom>
              <a:rect b="b" l="l" r="r" t="t"/>
              <a:pathLst>
                <a:path extrusionOk="0" h="1719" w="3801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descr="molecule | Definition, Examples, Structures, &amp; Facts | Britannica" id="136" name="Google Shape;1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475" y="2117900"/>
            <a:ext cx="26193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. 6 – Chemical Bonding – ABC Science" id="137" name="Google Shape;1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7700" y="2017050"/>
            <a:ext cx="2286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idx="6" type="title"/>
          </p:nvPr>
        </p:nvSpPr>
        <p:spPr>
          <a:xfrm>
            <a:off x="2421000" y="283608"/>
            <a:ext cx="43020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for Presentation</a:t>
            </a:r>
            <a:endParaRPr/>
          </a:p>
        </p:txBody>
      </p:sp>
      <p:sp>
        <p:nvSpPr>
          <p:cNvPr id="143" name="Google Shape;143;p28"/>
          <p:cNvSpPr/>
          <p:nvPr/>
        </p:nvSpPr>
        <p:spPr>
          <a:xfrm>
            <a:off x="3061832" y="1966228"/>
            <a:ext cx="2991706" cy="960805"/>
          </a:xfrm>
          <a:custGeom>
            <a:rect b="b" l="l" r="r" t="t"/>
            <a:pathLst>
              <a:path extrusionOk="0" h="28589" w="89019">
                <a:moveTo>
                  <a:pt x="74558" y="1"/>
                </a:moveTo>
                <a:cubicBezTo>
                  <a:pt x="67992" y="1"/>
                  <a:pt x="62168" y="4518"/>
                  <a:pt x="60655" y="11043"/>
                </a:cubicBezTo>
                <a:cubicBezTo>
                  <a:pt x="59369" y="11170"/>
                  <a:pt x="58069" y="11297"/>
                  <a:pt x="56783" y="11424"/>
                </a:cubicBezTo>
                <a:cubicBezTo>
                  <a:pt x="54833" y="11594"/>
                  <a:pt x="52967" y="11764"/>
                  <a:pt x="51258" y="11891"/>
                </a:cubicBezTo>
                <a:cubicBezTo>
                  <a:pt x="48784" y="12089"/>
                  <a:pt x="46665" y="12216"/>
                  <a:pt x="45336" y="12216"/>
                </a:cubicBezTo>
                <a:cubicBezTo>
                  <a:pt x="43315" y="12216"/>
                  <a:pt x="41309" y="11976"/>
                  <a:pt x="39344" y="11509"/>
                </a:cubicBezTo>
                <a:cubicBezTo>
                  <a:pt x="36504" y="10817"/>
                  <a:pt x="34101" y="9672"/>
                  <a:pt x="31939" y="8400"/>
                </a:cubicBezTo>
                <a:cubicBezTo>
                  <a:pt x="29014" y="6676"/>
                  <a:pt x="26526" y="4712"/>
                  <a:pt x="23983" y="3270"/>
                </a:cubicBezTo>
                <a:cubicBezTo>
                  <a:pt x="21387" y="1140"/>
                  <a:pt x="18178" y="26"/>
                  <a:pt x="14925" y="26"/>
                </a:cubicBezTo>
                <a:cubicBezTo>
                  <a:pt x="13238" y="26"/>
                  <a:pt x="11539" y="325"/>
                  <a:pt x="9907" y="939"/>
                </a:cubicBezTo>
                <a:cubicBezTo>
                  <a:pt x="5131" y="2719"/>
                  <a:pt x="1682" y="6916"/>
                  <a:pt x="834" y="11947"/>
                </a:cubicBezTo>
                <a:cubicBezTo>
                  <a:pt x="1" y="16978"/>
                  <a:pt x="1894" y="22080"/>
                  <a:pt x="5823" y="25316"/>
                </a:cubicBezTo>
                <a:cubicBezTo>
                  <a:pt x="8430" y="27465"/>
                  <a:pt x="11655" y="28589"/>
                  <a:pt x="14921" y="28589"/>
                </a:cubicBezTo>
                <a:cubicBezTo>
                  <a:pt x="16595" y="28589"/>
                  <a:pt x="18280" y="28294"/>
                  <a:pt x="19898" y="27690"/>
                </a:cubicBezTo>
                <a:cubicBezTo>
                  <a:pt x="23954" y="26631"/>
                  <a:pt x="27346" y="23550"/>
                  <a:pt x="31656" y="20964"/>
                </a:cubicBezTo>
                <a:cubicBezTo>
                  <a:pt x="33903" y="19607"/>
                  <a:pt x="36391" y="18406"/>
                  <a:pt x="39344" y="17685"/>
                </a:cubicBezTo>
                <a:cubicBezTo>
                  <a:pt x="41254" y="17218"/>
                  <a:pt x="43204" y="16978"/>
                  <a:pt x="45168" y="16978"/>
                </a:cubicBezTo>
                <a:cubicBezTo>
                  <a:pt x="45224" y="16978"/>
                  <a:pt x="45280" y="16978"/>
                  <a:pt x="45336" y="16978"/>
                </a:cubicBezTo>
                <a:cubicBezTo>
                  <a:pt x="46622" y="16978"/>
                  <a:pt x="48643" y="17091"/>
                  <a:pt x="51031" y="17275"/>
                </a:cubicBezTo>
                <a:cubicBezTo>
                  <a:pt x="52826" y="17402"/>
                  <a:pt x="54833" y="17586"/>
                  <a:pt x="56896" y="17784"/>
                </a:cubicBezTo>
                <a:cubicBezTo>
                  <a:pt x="58196" y="17897"/>
                  <a:pt x="59511" y="18038"/>
                  <a:pt x="60825" y="18165"/>
                </a:cubicBezTo>
                <a:cubicBezTo>
                  <a:pt x="62578" y="24391"/>
                  <a:pt x="68250" y="28572"/>
                  <a:pt x="74543" y="28572"/>
                </a:cubicBezTo>
                <a:cubicBezTo>
                  <a:pt x="75249" y="28572"/>
                  <a:pt x="75964" y="28520"/>
                  <a:pt x="76681" y="28411"/>
                </a:cubicBezTo>
                <a:cubicBezTo>
                  <a:pt x="83804" y="27351"/>
                  <a:pt x="89018" y="21147"/>
                  <a:pt x="88849" y="13954"/>
                </a:cubicBezTo>
                <a:cubicBezTo>
                  <a:pt x="88679" y="6761"/>
                  <a:pt x="83196" y="811"/>
                  <a:pt x="76031" y="76"/>
                </a:cubicBezTo>
                <a:cubicBezTo>
                  <a:pt x="75537" y="26"/>
                  <a:pt x="75046" y="1"/>
                  <a:pt x="74558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/>
          <p:nvPr/>
        </p:nvSpPr>
        <p:spPr>
          <a:xfrm>
            <a:off x="3212513" y="2122575"/>
            <a:ext cx="717300" cy="717300"/>
          </a:xfrm>
          <a:prstGeom prst="ellipse">
            <a:avLst/>
          </a:prstGeom>
          <a:solidFill>
            <a:srgbClr val="00C3B1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/>
          <p:nvPr/>
        </p:nvSpPr>
        <p:spPr>
          <a:xfrm>
            <a:off x="5230838" y="2095000"/>
            <a:ext cx="717300" cy="717300"/>
          </a:xfrm>
          <a:prstGeom prst="ellipse">
            <a:avLst/>
          </a:prstGeom>
          <a:solidFill>
            <a:srgbClr val="FF6B65"/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6" name="Google Shape;146;p28"/>
          <p:cNvSpPr txBox="1"/>
          <p:nvPr>
            <p:ph type="ctrTitle"/>
          </p:nvPr>
        </p:nvSpPr>
        <p:spPr>
          <a:xfrm flipH="1">
            <a:off x="1504105" y="2734264"/>
            <a:ext cx="2012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1"/>
                </a:solidFill>
                <a:latin typeface="Teko"/>
                <a:ea typeface="Teko"/>
                <a:cs typeface="Teko"/>
                <a:sym typeface="Teko"/>
              </a:rPr>
              <a:t>Ionic Lattice</a:t>
            </a:r>
            <a:endParaRPr/>
          </a:p>
        </p:txBody>
      </p:sp>
      <p:sp>
        <p:nvSpPr>
          <p:cNvPr id="147" name="Google Shape;147;p28"/>
          <p:cNvSpPr txBox="1"/>
          <p:nvPr>
            <p:ph type="ctrTitle"/>
          </p:nvPr>
        </p:nvSpPr>
        <p:spPr>
          <a:xfrm flipH="1">
            <a:off x="3191513" y="2282050"/>
            <a:ext cx="759300" cy="3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01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48" name="Google Shape;148;p28"/>
          <p:cNvSpPr txBox="1"/>
          <p:nvPr>
            <p:ph type="ctrTitle"/>
          </p:nvPr>
        </p:nvSpPr>
        <p:spPr>
          <a:xfrm flipH="1">
            <a:off x="5199563" y="2211741"/>
            <a:ext cx="779700" cy="4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02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149" name="Google Shape;149;p28"/>
          <p:cNvSpPr txBox="1"/>
          <p:nvPr>
            <p:ph idx="4" type="ctrTitle"/>
          </p:nvPr>
        </p:nvSpPr>
        <p:spPr>
          <a:xfrm flipH="1">
            <a:off x="5782175" y="1510650"/>
            <a:ext cx="27585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1"/>
                </a:solidFill>
                <a:latin typeface="Teko"/>
                <a:ea typeface="Teko"/>
                <a:cs typeface="Teko"/>
                <a:sym typeface="Teko"/>
              </a:rPr>
              <a:t>Covalent Network or Molecular Solid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/>
          <p:nvPr/>
        </p:nvSpPr>
        <p:spPr>
          <a:xfrm>
            <a:off x="-416000" y="245875"/>
            <a:ext cx="5824500" cy="5208600"/>
          </a:xfrm>
          <a:prstGeom prst="ellipse">
            <a:avLst/>
          </a:prstGeom>
          <a:solidFill>
            <a:srgbClr val="A6C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9"/>
          <p:cNvSpPr txBox="1"/>
          <p:nvPr/>
        </p:nvSpPr>
        <p:spPr>
          <a:xfrm>
            <a:off x="11300" y="1032300"/>
            <a:ext cx="50271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ind Vadodara"/>
              <a:buChar char="●"/>
            </a:pPr>
            <a:r>
              <a:rPr lang="en" sz="1800">
                <a:latin typeface="Hind Vadodara"/>
                <a:ea typeface="Hind Vadodara"/>
                <a:cs typeface="Hind Vadodara"/>
                <a:sym typeface="Hind Vadodara"/>
              </a:rPr>
              <a:t>electrostatic forces created by the positive and negative charges (opposites attract) in an ionic bond extend in all directions</a:t>
            </a:r>
            <a:endParaRPr sz="1800"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Hind Vadodara"/>
              <a:buChar char="○"/>
            </a:pPr>
            <a:r>
              <a:rPr lang="en" sz="1800">
                <a:latin typeface="Hind Vadodara"/>
                <a:ea typeface="Hind Vadodara"/>
                <a:cs typeface="Hind Vadodara"/>
                <a:sym typeface="Hind Vadodara"/>
              </a:rPr>
              <a:t>compounds with ionic bonds exist as lattice networks extending in 3D</a:t>
            </a:r>
            <a:endParaRPr sz="1800"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Hind Vadodara"/>
              <a:buChar char="○"/>
            </a:pPr>
            <a:r>
              <a:rPr lang="en" sz="1800">
                <a:latin typeface="Hind Vadodara"/>
                <a:ea typeface="Hind Vadodara"/>
                <a:cs typeface="Hind Vadodara"/>
                <a:sym typeface="Hind Vadodara"/>
              </a:rPr>
              <a:t>Example: sodium chloride, which consists of a lattice of alternating + sodium and - chlorine ions [chlorine stole some electrons from sodium] repeated until the edge of a salt crystal is reached</a:t>
            </a:r>
            <a:endParaRPr sz="1800"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925" y="234775"/>
            <a:ext cx="3049500" cy="3050100"/>
          </a:xfrm>
          <a:prstGeom prst="rect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7" name="Google Shape;157;p29"/>
          <p:cNvCxnSpPr/>
          <p:nvPr/>
        </p:nvCxnSpPr>
        <p:spPr>
          <a:xfrm flipH="1" rot="10800000">
            <a:off x="4311025" y="1759525"/>
            <a:ext cx="2009700" cy="2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9"/>
          <p:cNvSpPr txBox="1"/>
          <p:nvPr/>
        </p:nvSpPr>
        <p:spPr>
          <a:xfrm>
            <a:off x="500" y="53825"/>
            <a:ext cx="55137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1"/>
                </a:solidFill>
                <a:latin typeface="Teko"/>
                <a:ea typeface="Teko"/>
                <a:cs typeface="Teko"/>
                <a:sym typeface="Teko"/>
              </a:rPr>
              <a:t>Ionic Lattice</a:t>
            </a:r>
            <a:endParaRPr b="1" sz="3000">
              <a:solidFill>
                <a:schemeClr val="accen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159" name="Google Shape;159;p29"/>
          <p:cNvCxnSpPr/>
          <p:nvPr/>
        </p:nvCxnSpPr>
        <p:spPr>
          <a:xfrm flipH="1" rot="10800000">
            <a:off x="4756000" y="2595450"/>
            <a:ext cx="1528800" cy="60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idx="1" type="subTitle"/>
          </p:nvPr>
        </p:nvSpPr>
        <p:spPr>
          <a:xfrm flipH="1">
            <a:off x="200" y="767850"/>
            <a:ext cx="5844600" cy="42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ind Vadodara"/>
              <a:buChar char="●"/>
            </a:pPr>
            <a:r>
              <a:rPr lang="en" sz="1800">
                <a:solidFill>
                  <a:srgbClr val="000000"/>
                </a:solidFill>
              </a:rPr>
              <a:t>The force creating a covalent bond is focused on just the two atoms involved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ind Vadodara"/>
              <a:buChar char="○"/>
            </a:pPr>
            <a:r>
              <a:rPr lang="en" sz="1800">
                <a:solidFill>
                  <a:srgbClr val="000000"/>
                </a:solidFill>
              </a:rPr>
              <a:t>The atoms share electrons and that makes them stick together (people sharing internet in houses)</a:t>
            </a:r>
            <a:endParaRPr sz="1800">
              <a:solidFill>
                <a:srgbClr val="000000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ind Vadodara"/>
              <a:buChar char="■"/>
            </a:pPr>
            <a:r>
              <a:rPr lang="en" sz="1800">
                <a:solidFill>
                  <a:srgbClr val="000000"/>
                </a:solidFill>
              </a:rPr>
              <a:t>while hydrogen only forms a single covalent bond in the compound, carbon can form four covalent bonds with other atoms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>
                <a:solidFill>
                  <a:srgbClr val="000000"/>
                </a:solidFill>
              </a:rPr>
              <a:t>Covalently bonded molecules can exist as small units, such as methane and water, or as a covalent network, like diamonds, which consists of carbon, each atom bonds to four other carbon atoms in a lattice of such bonds, forming a diamond (streets connecting other roads, houses, or highway)</a:t>
            </a:r>
            <a:endParaRPr/>
          </a:p>
        </p:txBody>
      </p:sp>
      <p:sp>
        <p:nvSpPr>
          <p:cNvPr id="165" name="Google Shape;165;p30"/>
          <p:cNvSpPr txBox="1"/>
          <p:nvPr/>
        </p:nvSpPr>
        <p:spPr>
          <a:xfrm>
            <a:off x="13725" y="9750"/>
            <a:ext cx="62805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1"/>
                </a:solidFill>
                <a:latin typeface="Teko"/>
                <a:ea typeface="Teko"/>
                <a:cs typeface="Teko"/>
                <a:sym typeface="Teko"/>
              </a:rPr>
              <a:t>Covalent Network or M</a:t>
            </a:r>
            <a:r>
              <a:rPr b="1" lang="en" sz="3000">
                <a:solidFill>
                  <a:schemeClr val="accent1"/>
                </a:solidFill>
                <a:latin typeface="Teko"/>
                <a:ea typeface="Teko"/>
                <a:cs typeface="Teko"/>
                <a:sym typeface="Teko"/>
              </a:rPr>
              <a:t>olecular</a:t>
            </a:r>
            <a:r>
              <a:rPr b="1" lang="en" sz="3000">
                <a:solidFill>
                  <a:schemeClr val="accent1"/>
                </a:solidFill>
                <a:latin typeface="Teko"/>
                <a:ea typeface="Teko"/>
                <a:cs typeface="Teko"/>
                <a:sym typeface="Teko"/>
              </a:rPr>
              <a:t> Solid</a:t>
            </a:r>
            <a:endParaRPr b="1" sz="3000">
              <a:solidFill>
                <a:schemeClr val="accent1"/>
              </a:solidFill>
              <a:latin typeface="Teko"/>
              <a:ea typeface="Teko"/>
              <a:cs typeface="Teko"/>
              <a:sym typeface="Teko"/>
            </a:endParaRPr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100" y="3487641"/>
            <a:ext cx="1093500" cy="1632656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7" name="Google Shape;167;p30"/>
          <p:cNvCxnSpPr/>
          <p:nvPr/>
        </p:nvCxnSpPr>
        <p:spPr>
          <a:xfrm>
            <a:off x="5712575" y="1878525"/>
            <a:ext cx="2235000" cy="210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atural Diamonds | Diamond Stone – GIA C" id="168" name="Google Shape;168;p30"/>
          <p:cNvPicPr preferRelativeResize="0"/>
          <p:nvPr/>
        </p:nvPicPr>
        <p:blipFill rotWithShape="1">
          <a:blip r:embed="rId4">
            <a:alphaModFix/>
          </a:blip>
          <a:srcRect b="0" l="12362" r="7206" t="0"/>
          <a:stretch/>
        </p:blipFill>
        <p:spPr>
          <a:xfrm>
            <a:off x="6294225" y="898675"/>
            <a:ext cx="1788825" cy="167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30"/>
          <p:cNvCxnSpPr/>
          <p:nvPr/>
        </p:nvCxnSpPr>
        <p:spPr>
          <a:xfrm flipH="1" rot="10800000">
            <a:off x="5196575" y="1788800"/>
            <a:ext cx="1571100" cy="223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/>
          <p:nvPr/>
        </p:nvSpPr>
        <p:spPr>
          <a:xfrm>
            <a:off x="-691411" y="1228650"/>
            <a:ext cx="5724600" cy="5724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etals"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150" y="3371850"/>
            <a:ext cx="23431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 txBox="1"/>
          <p:nvPr>
            <p:ph type="title"/>
          </p:nvPr>
        </p:nvSpPr>
        <p:spPr>
          <a:xfrm>
            <a:off x="2309000" y="116773"/>
            <a:ext cx="4413900" cy="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EXTRA SLIDE: </a:t>
            </a:r>
            <a:r>
              <a:rPr lang="en" sz="3000">
                <a:solidFill>
                  <a:schemeClr val="accent1"/>
                </a:solidFill>
              </a:rPr>
              <a:t>METALLIC</a:t>
            </a:r>
            <a:r>
              <a:rPr lang="en" sz="3000">
                <a:solidFill>
                  <a:schemeClr val="accent1"/>
                </a:solidFill>
              </a:rPr>
              <a:t> BONDS</a:t>
            </a:r>
            <a:endParaRPr sz="3000">
              <a:solidFill>
                <a:schemeClr val="accent1"/>
              </a:solidFill>
            </a:endParaRPr>
          </a:p>
        </p:txBody>
      </p:sp>
      <p:cxnSp>
        <p:nvCxnSpPr>
          <p:cNvPr id="177" name="Google Shape;177;p31"/>
          <p:cNvCxnSpPr/>
          <p:nvPr/>
        </p:nvCxnSpPr>
        <p:spPr>
          <a:xfrm>
            <a:off x="4105725" y="2209325"/>
            <a:ext cx="1756800" cy="274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31"/>
          <p:cNvCxnSpPr/>
          <p:nvPr/>
        </p:nvCxnSpPr>
        <p:spPr>
          <a:xfrm flipH="1" rot="10800000">
            <a:off x="4399875" y="2447050"/>
            <a:ext cx="1458300" cy="20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31"/>
          <p:cNvSpPr txBox="1"/>
          <p:nvPr/>
        </p:nvSpPr>
        <p:spPr>
          <a:xfrm>
            <a:off x="317850" y="1597725"/>
            <a:ext cx="4178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en" sz="18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Metals easily lose electrons</a:t>
            </a:r>
            <a:endParaRPr sz="1800"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en" sz="18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Metallic bonds are highly ordered solids with metal atoms with free-flowing electrons</a:t>
            </a:r>
            <a:endParaRPr sz="1800"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 Vadodara"/>
              <a:buChar char="●"/>
            </a:pPr>
            <a:r>
              <a:rPr lang="en" sz="18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They form a grid of atoms that, have electrons hold the atoms tightly</a:t>
            </a:r>
            <a:endParaRPr sz="1800"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 Vadodara"/>
              <a:buChar char="○"/>
            </a:pPr>
            <a:r>
              <a:rPr lang="en" sz="1800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Similar to how ionic bonds form lattice structures</a:t>
            </a:r>
            <a:endParaRPr sz="1800">
              <a:solidFill>
                <a:schemeClr val="dk1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</a:pPr>
            <a:r>
              <a:rPr lang="en">
                <a:solidFill>
                  <a:schemeClr val="dk1"/>
                </a:solidFill>
                <a:latin typeface="Hind Vadodara"/>
                <a:ea typeface="Hind Vadodara"/>
                <a:cs typeface="Hind Vadodara"/>
                <a:sym typeface="Hind Vadodara"/>
              </a:rPr>
              <a:t>Makes metals strong, but also can change shape as layers of the atoms can slide over one another relatively easily.</a:t>
            </a:r>
            <a:endParaRPr>
              <a:latin typeface="Hind Vadodara"/>
              <a:ea typeface="Hind Vadodara"/>
              <a:cs typeface="Hind Vadodara"/>
              <a:sym typeface="Hind Vadodara"/>
            </a:endParaRPr>
          </a:p>
        </p:txBody>
      </p:sp>
      <p:pic>
        <p:nvPicPr>
          <p:cNvPr descr="What's the basic difference between wires and cables?"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9875" y="769025"/>
            <a:ext cx="1255294" cy="79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talsDepot® - Buy Galvanized Steel Beams Online!" id="181" name="Google Shape;181;p31"/>
          <p:cNvPicPr preferRelativeResize="0"/>
          <p:nvPr/>
        </p:nvPicPr>
        <p:blipFill rotWithShape="1">
          <a:blip r:embed="rId5">
            <a:alphaModFix/>
          </a:blip>
          <a:srcRect b="7415" l="8977" r="7123" t="0"/>
          <a:stretch/>
        </p:blipFill>
        <p:spPr>
          <a:xfrm>
            <a:off x="764750" y="-21475"/>
            <a:ext cx="1255300" cy="138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 rotWithShape="1">
          <a:blip r:embed="rId6">
            <a:alphaModFix/>
          </a:blip>
          <a:srcRect b="16920" l="6289" r="13588" t="24671"/>
          <a:stretch/>
        </p:blipFill>
        <p:spPr>
          <a:xfrm>
            <a:off x="6118650" y="0"/>
            <a:ext cx="3056650" cy="167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tallic Bonding" id="183" name="Google Shape;183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6875" y="1785376"/>
            <a:ext cx="2477150" cy="15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 b="7652" l="0" r="0" t="5976"/>
          <a:stretch/>
        </p:blipFill>
        <p:spPr>
          <a:xfrm>
            <a:off x="0" y="355875"/>
            <a:ext cx="3964050" cy="478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/>
        </p:nvSpPr>
        <p:spPr>
          <a:xfrm>
            <a:off x="2533200" y="0"/>
            <a:ext cx="6610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9900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 for Coming to My Presentation!</a:t>
            </a:r>
            <a:endParaRPr b="1" sz="6000">
              <a:solidFill>
                <a:srgbClr val="FF99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Fair Newsletter by Slidesgo">
  <a:themeElements>
    <a:clrScheme name="Simple Light">
      <a:dk1>
        <a:srgbClr val="383536"/>
      </a:dk1>
      <a:lt1>
        <a:srgbClr val="FFFFFF"/>
      </a:lt1>
      <a:dk2>
        <a:srgbClr val="595959"/>
      </a:dk2>
      <a:lt2>
        <a:srgbClr val="E6F0EF"/>
      </a:lt2>
      <a:accent1>
        <a:srgbClr val="D49421"/>
      </a:accent1>
      <a:accent2>
        <a:srgbClr val="C3CCA2"/>
      </a:accent2>
      <a:accent3>
        <a:srgbClr val="88AFA6"/>
      </a:accent3>
      <a:accent4>
        <a:srgbClr val="627E8D"/>
      </a:accent4>
      <a:accent5>
        <a:srgbClr val="BDBCBD"/>
      </a:accent5>
      <a:accent6>
        <a:srgbClr val="6E4D11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
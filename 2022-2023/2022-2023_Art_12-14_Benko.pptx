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bold.fntdata"/><Relationship Id="rId6" Type="http://schemas.openxmlformats.org/officeDocument/2006/relationships/slide" Target="slides/slide1.xml"/><Relationship Id="rId18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6b5a4d222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6b5a4d222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6f15023520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6f1502352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6f15023520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6f15023520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78f08c3f7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78f08c3f7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78f08c3f7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78f08c3f7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78f08c3f7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78f08c3f7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78f08c3f7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78f08c3f7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78f08c3f7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78f08c3f7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78f08c3f7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78f08c3f7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78f08c3f7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78f08c3f7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78f08c3f7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78f08c3f7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2.jpg"/><Relationship Id="rId5" Type="http://schemas.openxmlformats.org/officeDocument/2006/relationships/image" Target="../media/image1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9.jp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586700" y="727525"/>
            <a:ext cx="59706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Ancient Egyptian Art - Etruscan Art(12-14)</a:t>
            </a:r>
            <a:endParaRPr sz="41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0" y="4795800"/>
            <a:ext cx="1586700" cy="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By: Matija Benko</a:t>
            </a:r>
            <a:endParaRPr sz="1200"/>
          </a:p>
        </p:txBody>
      </p:sp>
      <p:grpSp>
        <p:nvGrpSpPr>
          <p:cNvPr id="65" name="Google Shape;65;p13"/>
          <p:cNvGrpSpPr/>
          <p:nvPr/>
        </p:nvGrpSpPr>
        <p:grpSpPr>
          <a:xfrm>
            <a:off x="4343026" y="2425575"/>
            <a:ext cx="457933" cy="488378"/>
            <a:chOff x="914900" y="3806450"/>
            <a:chExt cx="451700" cy="481825"/>
          </a:xfrm>
        </p:grpSpPr>
        <p:sp>
          <p:nvSpPr>
            <p:cNvPr id="66" name="Google Shape;66;p13"/>
            <p:cNvSpPr/>
            <p:nvPr/>
          </p:nvSpPr>
          <p:spPr>
            <a:xfrm>
              <a:off x="914900" y="4174425"/>
              <a:ext cx="423400" cy="113850"/>
            </a:xfrm>
            <a:custGeom>
              <a:rect b="b" l="l" r="r" t="t"/>
              <a:pathLst>
                <a:path extrusionOk="0" h="4554" w="16936">
                  <a:moveTo>
                    <a:pt x="564" y="0"/>
                  </a:moveTo>
                  <a:cubicBezTo>
                    <a:pt x="250" y="0"/>
                    <a:pt x="0" y="250"/>
                    <a:pt x="0" y="563"/>
                  </a:cubicBezTo>
                  <a:cubicBezTo>
                    <a:pt x="0" y="877"/>
                    <a:pt x="250" y="1130"/>
                    <a:pt x="564" y="1130"/>
                  </a:cubicBezTo>
                  <a:lnTo>
                    <a:pt x="2259" y="1130"/>
                  </a:lnTo>
                  <a:lnTo>
                    <a:pt x="2259" y="2861"/>
                  </a:lnTo>
                  <a:cubicBezTo>
                    <a:pt x="2259" y="3795"/>
                    <a:pt x="3015" y="4553"/>
                    <a:pt x="3951" y="4553"/>
                  </a:cubicBezTo>
                  <a:cubicBezTo>
                    <a:pt x="4264" y="4553"/>
                    <a:pt x="4517" y="4300"/>
                    <a:pt x="4517" y="3990"/>
                  </a:cubicBezTo>
                  <a:lnTo>
                    <a:pt x="4517" y="1130"/>
                  </a:lnTo>
                  <a:lnTo>
                    <a:pt x="5646" y="1130"/>
                  </a:lnTo>
                  <a:lnTo>
                    <a:pt x="5646" y="1693"/>
                  </a:lnTo>
                  <a:cubicBezTo>
                    <a:pt x="5646" y="2629"/>
                    <a:pt x="6402" y="3424"/>
                    <a:pt x="7339" y="3424"/>
                  </a:cubicBezTo>
                  <a:cubicBezTo>
                    <a:pt x="7652" y="3424"/>
                    <a:pt x="7905" y="3171"/>
                    <a:pt x="7905" y="2861"/>
                  </a:cubicBezTo>
                  <a:lnTo>
                    <a:pt x="7905" y="1130"/>
                  </a:lnTo>
                  <a:lnTo>
                    <a:pt x="9034" y="1130"/>
                  </a:lnTo>
                  <a:lnTo>
                    <a:pt x="9034" y="3990"/>
                  </a:lnTo>
                  <a:cubicBezTo>
                    <a:pt x="9034" y="4300"/>
                    <a:pt x="9284" y="4553"/>
                    <a:pt x="9597" y="4553"/>
                  </a:cubicBezTo>
                  <a:cubicBezTo>
                    <a:pt x="9910" y="4553"/>
                    <a:pt x="10163" y="4300"/>
                    <a:pt x="10163" y="3990"/>
                  </a:cubicBezTo>
                  <a:lnTo>
                    <a:pt x="10163" y="1130"/>
                  </a:lnTo>
                  <a:lnTo>
                    <a:pt x="16373" y="1130"/>
                  </a:lnTo>
                  <a:cubicBezTo>
                    <a:pt x="16686" y="1130"/>
                    <a:pt x="16936" y="877"/>
                    <a:pt x="16936" y="563"/>
                  </a:cubicBezTo>
                  <a:cubicBezTo>
                    <a:pt x="16936" y="250"/>
                    <a:pt x="16686" y="0"/>
                    <a:pt x="163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253675" y="3806450"/>
              <a:ext cx="112925" cy="90350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1253600" y="3876425"/>
              <a:ext cx="95025" cy="42975"/>
            </a:xfrm>
            <a:custGeom>
              <a:rect b="b" l="l" r="r" t="t"/>
              <a:pathLst>
                <a:path extrusionOk="0" h="1719" w="3801">
                  <a:moveTo>
                    <a:pt x="726" y="0"/>
                  </a:moveTo>
                  <a:cubicBezTo>
                    <a:pt x="478" y="0"/>
                    <a:pt x="239" y="9"/>
                    <a:pt x="42" y="23"/>
                  </a:cubicBezTo>
                  <a:lnTo>
                    <a:pt x="0" y="23"/>
                  </a:lnTo>
                  <a:lnTo>
                    <a:pt x="3" y="1718"/>
                  </a:lnTo>
                  <a:lnTo>
                    <a:pt x="3800" y="1718"/>
                  </a:lnTo>
                  <a:cubicBezTo>
                    <a:pt x="3379" y="1203"/>
                    <a:pt x="2692" y="438"/>
                    <a:pt x="2219" y="182"/>
                  </a:cubicBezTo>
                  <a:cubicBezTo>
                    <a:pt x="1969" y="49"/>
                    <a:pt x="1321" y="0"/>
                    <a:pt x="72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3617188" y="-8112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h, Suddenly Egyptian God (Anime) - TV Tropes"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0300" y="-100300"/>
            <a:ext cx="2433700" cy="36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4009048" y="2998800"/>
            <a:ext cx="665700" cy="595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Ancient Egyptian art</a:t>
            </a:r>
            <a:endParaRPr sz="5000"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-2625" y="900000"/>
            <a:ext cx="6168000" cy="42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Ancient Egyptian civilization - from 3000 B.C., following predynastic period, to when Alexander conquered Egypt (c. 332 B.C.)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Egyptian art emphasizes hierarchical scale - uses size to show a figure’s status</a:t>
            </a:r>
            <a:endParaRPr sz="2500"/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4">
            <a:alphaModFix/>
          </a:blip>
          <a:srcRect b="-9" l="0" r="0" t="6986"/>
          <a:stretch/>
        </p:blipFill>
        <p:spPr>
          <a:xfrm>
            <a:off x="7047750" y="3322450"/>
            <a:ext cx="2080075" cy="1821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4"/>
          <p:cNvCxnSpPr/>
          <p:nvPr/>
        </p:nvCxnSpPr>
        <p:spPr>
          <a:xfrm flipH="1" rot="10800000">
            <a:off x="6654050" y="3817984"/>
            <a:ext cx="679200" cy="308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4"/>
          <p:cNvCxnSpPr/>
          <p:nvPr/>
        </p:nvCxnSpPr>
        <p:spPr>
          <a:xfrm rot="10800000">
            <a:off x="7540872" y="3853280"/>
            <a:ext cx="531600" cy="34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4"/>
          <p:cNvCxnSpPr/>
          <p:nvPr/>
        </p:nvCxnSpPr>
        <p:spPr>
          <a:xfrm flipH="1" rot="10800000">
            <a:off x="7333246" y="3853270"/>
            <a:ext cx="77700" cy="73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4"/>
          <p:cNvCxnSpPr/>
          <p:nvPr/>
        </p:nvCxnSpPr>
        <p:spPr>
          <a:xfrm>
            <a:off x="6775675" y="3298225"/>
            <a:ext cx="605400" cy="29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4"/>
          <p:cNvSpPr/>
          <p:nvPr/>
        </p:nvSpPr>
        <p:spPr>
          <a:xfrm>
            <a:off x="7196787" y="3403399"/>
            <a:ext cx="531600" cy="796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4"/>
          <p:cNvCxnSpPr>
            <a:endCxn id="85" idx="7"/>
          </p:cNvCxnSpPr>
          <p:nvPr/>
        </p:nvCxnSpPr>
        <p:spPr>
          <a:xfrm flipH="1">
            <a:off x="7650536" y="3143287"/>
            <a:ext cx="268200" cy="37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4"/>
          <p:cNvSpPr/>
          <p:nvPr/>
        </p:nvSpPr>
        <p:spPr>
          <a:xfrm>
            <a:off x="8107550" y="3550075"/>
            <a:ext cx="280800" cy="474600"/>
          </a:xfrm>
          <a:prstGeom prst="rect">
            <a:avLst/>
          </a:prstGeom>
          <a:solidFill>
            <a:srgbClr val="8B6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lexander the great from en.wikipedia.org" id="88" name="Google Shape;8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4000" y="565200"/>
            <a:ext cx="4084600" cy="40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-2097812" y="19320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0" y="0"/>
            <a:ext cx="9144000" cy="113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Presentation</a:t>
            </a:r>
            <a:r>
              <a:rPr lang="en" sz="5000"/>
              <a:t> of Figures</a:t>
            </a:r>
            <a:endParaRPr sz="5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(Ancient Egyptian Art part 2)</a:t>
            </a:r>
            <a:endParaRPr sz="1400"/>
          </a:p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0" y="1176900"/>
            <a:ext cx="7206600" cy="3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Figures are presented so each body part is shown clearly(fractional representation)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Head, </a:t>
            </a:r>
            <a:r>
              <a:rPr lang="en" sz="2500"/>
              <a:t>lower body, legs, &amp; feet</a:t>
            </a:r>
            <a:r>
              <a:rPr lang="en" sz="2500"/>
              <a:t> are in profile, the eye in frontal view</a:t>
            </a:r>
            <a:r>
              <a:rPr lang="en" sz="2500"/>
              <a:t> w/</a:t>
            </a:r>
            <a:r>
              <a:rPr lang="en" sz="2500"/>
              <a:t> the head, &amp; torso is in full frontal view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Excellent preservation was in much of Egypt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Mummies preserved egyptians well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King Tut’s tomb was hidden cleverly</a:t>
            </a:r>
            <a:endParaRPr sz="2500"/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-9" l="43731" r="0" t="8190"/>
          <a:stretch/>
        </p:blipFill>
        <p:spPr>
          <a:xfrm>
            <a:off x="7301950" y="3041550"/>
            <a:ext cx="1368675" cy="21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7467278" y="3432915"/>
            <a:ext cx="338700" cy="414900"/>
          </a:xfrm>
          <a:prstGeom prst="rect">
            <a:avLst/>
          </a:prstGeom>
          <a:solidFill>
            <a:srgbClr val="886C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arcos waiting Meme Template - Piñata Farms - The best meme generator and  meme maker for video &amp; image memes" id="98" name="Google Shape;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5325" y="0"/>
            <a:ext cx="1368675" cy="1460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5">
            <a:alphaModFix/>
          </a:blip>
          <a:srcRect b="0" l="10597" r="2035" t="0"/>
          <a:stretch/>
        </p:blipFill>
        <p:spPr>
          <a:xfrm>
            <a:off x="7096275" y="1652825"/>
            <a:ext cx="2047725" cy="13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6055588" y="17796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Nubian Art</a:t>
            </a:r>
            <a:endParaRPr sz="500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-2625" y="1005850"/>
            <a:ext cx="6584700" cy="4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Nubia covered much of Africa(southern Egypt included)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Nubia </a:t>
            </a:r>
            <a:r>
              <a:rPr lang="en" sz="2500"/>
              <a:t>completely</a:t>
            </a:r>
            <a:r>
              <a:rPr lang="en" sz="2500"/>
              <a:t> </a:t>
            </a:r>
            <a:r>
              <a:rPr lang="en" sz="2500"/>
              <a:t>controlled</a:t>
            </a:r>
            <a:r>
              <a:rPr lang="en" sz="2500"/>
              <a:t> Egypt(Pharos were Nubian too)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Influenced ancient Egyptian art a bit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Contemporary historians researched Nubia(info could change as people research Nubia more{maybe})</a:t>
            </a:r>
            <a:endParaRPr sz="2500"/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2974" r="8498" t="8975"/>
          <a:stretch/>
        </p:blipFill>
        <p:spPr>
          <a:xfrm>
            <a:off x="6421350" y="2127150"/>
            <a:ext cx="2722650" cy="280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ubia | Abagond" id="108" name="Google Shape;108;p16"/>
          <p:cNvPicPr preferRelativeResize="0"/>
          <p:nvPr/>
        </p:nvPicPr>
        <p:blipFill rotWithShape="1">
          <a:blip r:embed="rId4">
            <a:alphaModFix/>
          </a:blip>
          <a:srcRect b="0" l="0" r="0" t="4333"/>
          <a:stretch/>
        </p:blipFill>
        <p:spPr>
          <a:xfrm>
            <a:off x="7005700" y="0"/>
            <a:ext cx="1827950" cy="20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5963563" y="554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0" y="0"/>
            <a:ext cx="9144000" cy="15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Cycladic, Minoan, &amp; Mycenaean Art(context)</a:t>
            </a:r>
            <a:endParaRPr sz="5000"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-2625" y="1535400"/>
            <a:ext cx="6027600" cy="3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 Aegean island art was important to our understanding of before ancient Greeks was an idea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Three cultures flourished on the islands in the Aegean Sea, on Crete, &amp; along the Aegean coast </a:t>
            </a:r>
            <a:endParaRPr sz="2500"/>
          </a:p>
        </p:txBody>
      </p:sp>
      <p:pic>
        <p:nvPicPr>
          <p:cNvPr descr="Guide to Ancient Aegean Art – Smarthistory" id="116" name="Google Shape;116;p17"/>
          <p:cNvPicPr preferRelativeResize="0"/>
          <p:nvPr/>
        </p:nvPicPr>
        <p:blipFill rotWithShape="1">
          <a:blip r:embed="rId3">
            <a:alphaModFix/>
          </a:blip>
          <a:srcRect b="30921" l="28848" r="31122" t="20290"/>
          <a:stretch/>
        </p:blipFill>
        <p:spPr>
          <a:xfrm>
            <a:off x="6024975" y="2099425"/>
            <a:ext cx="3119024" cy="25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-824687" y="19336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Cycladic Art</a:t>
            </a:r>
            <a:endParaRPr sz="5000"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-2625" y="1005850"/>
            <a:ext cx="7131900" cy="3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Cycladic, earliest of the three, flourished about 3200-2000B.C.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“the simplified, geometric nude female figures from this area are highly appealing to modern sensibilities.”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produced decorated pieces of pottery as well as marble bowls &amp; jars</a:t>
            </a:r>
            <a:endParaRPr sz="2500"/>
          </a:p>
        </p:txBody>
      </p:sp>
      <p:pic>
        <p:nvPicPr>
          <p:cNvPr descr="Guide to Ancient Aegean Art – Smarthistory" id="124" name="Google Shape;124;p18"/>
          <p:cNvPicPr preferRelativeResize="0"/>
          <p:nvPr/>
        </p:nvPicPr>
        <p:blipFill rotWithShape="1">
          <a:blip r:embed="rId3">
            <a:alphaModFix/>
          </a:blip>
          <a:srcRect b="40246" l="40783" r="39947" t="29383"/>
          <a:stretch/>
        </p:blipFill>
        <p:spPr>
          <a:xfrm>
            <a:off x="7088283" y="513375"/>
            <a:ext cx="1939467" cy="205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7757711" y="1401792"/>
            <a:ext cx="994800" cy="782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325" y="3468525"/>
            <a:ext cx="2450675" cy="16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5968388" y="-967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Minoan art</a:t>
            </a:r>
            <a:endParaRPr sz="5000"/>
          </a:p>
        </p:txBody>
      </p:sp>
      <p:pic>
        <p:nvPicPr>
          <p:cNvPr descr="Guide to Ancient Aegean Art – Smarthistory" id="133" name="Google Shape;133;p19"/>
          <p:cNvPicPr preferRelativeResize="0"/>
          <p:nvPr/>
        </p:nvPicPr>
        <p:blipFill rotWithShape="1">
          <a:blip r:embed="rId3">
            <a:alphaModFix/>
          </a:blip>
          <a:srcRect b="35722" l="35374" r="39513" t="29292"/>
          <a:stretch/>
        </p:blipFill>
        <p:spPr>
          <a:xfrm>
            <a:off x="7031500" y="2241548"/>
            <a:ext cx="2112474" cy="1981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8000988" y="3804200"/>
            <a:ext cx="848400" cy="426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terius - Hades Wiki"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0" y="4120975"/>
            <a:ext cx="18383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8122075" y="162075"/>
            <a:ext cx="87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latin typeface="Roboto"/>
                <a:ea typeface="Roboto"/>
                <a:cs typeface="Roboto"/>
                <a:sym typeface="Roboto"/>
              </a:rPr>
              <a:t>The maze where the minotaur lives is a royal palace. They lied to us! &gt;:(</a:t>
            </a:r>
            <a:endParaRPr sz="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0" y="678050"/>
            <a:ext cx="7967100" cy="44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Minoans peaked in 2,000 B.C.(took over Cycladic)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Centered around Knossos, Crete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Art of Minoans depict sea life, include statues of a snake goddess(?)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Frescoes on palace walls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Pottery designs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Minoans built four palaces, completely unfortified &amp; designed in a natural style(wow)</a:t>
            </a:r>
            <a:endParaRPr sz="2500"/>
          </a:p>
        </p:txBody>
      </p:sp>
      <p:pic>
        <p:nvPicPr>
          <p:cNvPr descr="Nice Job Sarcasm GIF - Nice Job Sarcasm Clap GIFs" id="138" name="Google Shape;13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7575" y="2157752"/>
            <a:ext cx="1931650" cy="120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-1488212" y="16272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Mycenaean Art</a:t>
            </a:r>
            <a:endParaRPr sz="5000"/>
          </a:p>
        </p:txBody>
      </p:sp>
      <p:pic>
        <p:nvPicPr>
          <p:cNvPr descr="Guide to Ancient Aegean Art – Smarthistory" id="145" name="Google Shape;145;p20"/>
          <p:cNvPicPr preferRelativeResize="0"/>
          <p:nvPr/>
        </p:nvPicPr>
        <p:blipFill rotWithShape="1">
          <a:blip r:embed="rId3">
            <a:alphaModFix/>
          </a:blip>
          <a:srcRect b="35538" l="34007" r="43180" t="29016"/>
          <a:stretch/>
        </p:blipFill>
        <p:spPr>
          <a:xfrm>
            <a:off x="7037200" y="900000"/>
            <a:ext cx="2106800" cy="213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7186189" y="1470132"/>
            <a:ext cx="1152000" cy="556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lief (sculpture) - New World Encyclopedia"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9700" y="3126350"/>
            <a:ext cx="2184300" cy="16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 rotWithShape="1">
          <a:blip r:embed="rId5">
            <a:alphaModFix/>
          </a:blip>
          <a:srcRect b="3925" l="3282" r="2926" t="3721"/>
          <a:stretch/>
        </p:blipFill>
        <p:spPr>
          <a:xfrm rot="1702688">
            <a:off x="8433700" y="3583300"/>
            <a:ext cx="125001" cy="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-2625" y="860450"/>
            <a:ext cx="7281900" cy="42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Peak was at Minoan collapse(people think Mycenaeans beat Minoans), Centered around Mycenae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Built fancy tombs, burial practices allowed many things to preserve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Best known are made of gold &amp; show mastery in goldsmithing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Made 3D engravings on flat surfaces(relief sculpture)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6055588" y="17796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Ancient Greek Art</a:t>
            </a:r>
            <a:endParaRPr sz="5000"/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-2625" y="1005850"/>
            <a:ext cx="7343400" cy="3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During</a:t>
            </a:r>
            <a:r>
              <a:rPr lang="en" sz="2500"/>
              <a:t> 660 to 475 B.C., Greek art copied Egyptian &amp; Mesopotamian art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Made sculpture w/ marble &amp; limestone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Placed emphasis on human proportions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Columns were in Doric &amp; Ionic style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Also painted vases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Corinthian style used flowers, Athenian style is black/red figures</a:t>
            </a:r>
            <a:endParaRPr sz="2500"/>
          </a:p>
        </p:txBody>
      </p:sp>
      <p:pic>
        <p:nvPicPr>
          <p:cNvPr descr="The 3-key Stack Overflow keyboard gets updated with RGB, hot-swappable  switches | TechSpot" id="157" name="Google Shape;157;p21"/>
          <p:cNvPicPr preferRelativeResize="0"/>
          <p:nvPr/>
        </p:nvPicPr>
        <p:blipFill rotWithShape="1">
          <a:blip r:embed="rId3">
            <a:alphaModFix/>
          </a:blip>
          <a:srcRect b="4695" l="8058" r="13553" t="4477"/>
          <a:stretch/>
        </p:blipFill>
        <p:spPr>
          <a:xfrm>
            <a:off x="7340763" y="19375"/>
            <a:ext cx="1791975" cy="137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 rotWithShape="1">
          <a:blip r:embed="rId4">
            <a:alphaModFix/>
          </a:blip>
          <a:srcRect b="1682" l="1362" r="43920" t="4350"/>
          <a:stretch/>
        </p:blipFill>
        <p:spPr>
          <a:xfrm>
            <a:off x="7115241" y="1394850"/>
            <a:ext cx="2017483" cy="1880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fte | Christopher Polt 🏳️‍🌈 on Twitter: &quot;In Disney's Hercules (1997),  the hero's first major victory — against the Hydra — is commemorated on  this vase, which appears a the beginning of" id="159" name="Google Shape;159;p21"/>
          <p:cNvPicPr preferRelativeResize="0"/>
          <p:nvPr/>
        </p:nvPicPr>
        <p:blipFill rotWithShape="1">
          <a:blip r:embed="rId5">
            <a:alphaModFix/>
          </a:blip>
          <a:srcRect b="5633" l="4017" r="2550" t="0"/>
          <a:stretch/>
        </p:blipFill>
        <p:spPr>
          <a:xfrm>
            <a:off x="6923225" y="3750575"/>
            <a:ext cx="2448118" cy="13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7039700" y="4056450"/>
            <a:ext cx="88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Here are the legends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Ancient Greek Art</a:t>
            </a:r>
            <a:r>
              <a:rPr lang="en" sz="2000"/>
              <a:t>(part 2)</a:t>
            </a:r>
            <a:endParaRPr sz="2000"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1125" y="0"/>
            <a:ext cx="1752875" cy="13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/>
          <p:nvPr/>
        </p:nvSpPr>
        <p:spPr>
          <a:xfrm>
            <a:off x="-1365812" y="9000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assical Greek Sculpture" id="168" name="Google Shape;1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52400" y="2093750"/>
            <a:ext cx="2749575" cy="14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745175" y="751225"/>
            <a:ext cx="8399100" cy="43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Best known art is from Classical period Athens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Temples were typically built w/ Doric columns(much of the sculptures have not survived)</a:t>
            </a:r>
            <a:endParaRPr sz="25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" sz="2500"/>
              <a:t>Roman copies gave people clues of how these sculptures looked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Characterized by dignity, strength, &amp; simplicity, often focused on a figure/scene either before/after an important action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They took stiff positions of Egyptian art &amp; gave them life</a:t>
            </a:r>
            <a:endParaRPr sz="2500"/>
          </a:p>
        </p:txBody>
      </p:sp>
      <p:sp>
        <p:nvSpPr>
          <p:cNvPr id="170" name="Google Shape;170;p22"/>
          <p:cNvSpPr txBox="1"/>
          <p:nvPr/>
        </p:nvSpPr>
        <p:spPr>
          <a:xfrm>
            <a:off x="0" y="2653550"/>
            <a:ext cx="20235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Finna go to school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/>
          <p:nvPr/>
        </p:nvSpPr>
        <p:spPr>
          <a:xfrm>
            <a:off x="6055588" y="1779600"/>
            <a:ext cx="4362300" cy="3900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1,964 Greek Statue Man Stock Photos, Pictures &amp; Royalty-Free Images - iStock" id="176" name="Google Shape;17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969325"/>
            <a:ext cx="25717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>
            <p:ph type="title"/>
          </p:nvPr>
        </p:nvSpPr>
        <p:spPr>
          <a:xfrm>
            <a:off x="0" y="0"/>
            <a:ext cx="9144000" cy="90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Presentation of figures(</a:t>
            </a:r>
            <a:r>
              <a:rPr lang="en" sz="2000"/>
              <a:t>Greek Edition</a:t>
            </a:r>
            <a:r>
              <a:rPr lang="en" sz="5000"/>
              <a:t>)</a:t>
            </a:r>
            <a:endParaRPr sz="5000"/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-2625" y="727000"/>
            <a:ext cx="79875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“Contrapposto” (counter positioning)</a:t>
            </a:r>
            <a:r>
              <a:rPr lang="en" sz="2500"/>
              <a:t>- shows the body to its best advantage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Architecture declined in Late Classical Period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(Athens was beaten in Peloponnesian War)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Temples still used Doric columns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2500"/>
              <a:t>Corinthian columns became more popular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Hellenstic Period saw increasing influence of the East (Greek style blended more</a:t>
            </a:r>
            <a:r>
              <a:rPr lang="en" sz="2500"/>
              <a:t> w/ </a:t>
            </a:r>
            <a:r>
              <a:rPr lang="en" sz="2500"/>
              <a:t>Asia Minor)</a:t>
            </a:r>
            <a:endParaRPr sz="2500"/>
          </a:p>
        </p:txBody>
      </p:sp>
      <p:sp>
        <p:nvSpPr>
          <p:cNvPr id="179" name="Google Shape;179;p23"/>
          <p:cNvSpPr txBox="1"/>
          <p:nvPr/>
        </p:nvSpPr>
        <p:spPr>
          <a:xfrm>
            <a:off x="7228725" y="833275"/>
            <a:ext cx="14964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 after discord light mode: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One more thing - Memes"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0500" y="3849650"/>
            <a:ext cx="1693500" cy="12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type="title"/>
          </p:nvPr>
        </p:nvSpPr>
        <p:spPr>
          <a:xfrm>
            <a:off x="329350" y="0"/>
            <a:ext cx="8712900" cy="44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400" y="1725250"/>
            <a:ext cx="3297675" cy="32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194F6E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917221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
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Roboto Slab"/>
      <p:regular r:id="rId12"/>
      <p:bold r:id="rId13"/>
    </p:embeddedFon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997900bee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997900bee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16d052a9e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16d052a9e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170449aa0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170449aa0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170449aa0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170449aa0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a4499b22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a4499b22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57" name="Google Shape;57;p1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5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5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6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17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1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1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" name="Google Shape;89;p21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21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3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23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s://youtube.com/watch?v=NeIR4-bxpuA&amp;feature=shar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hyperlink" Target="https://youtube.com/watch?v=NeIR4-bxpuA&amp;feature=share" TargetMode="External"/><Relationship Id="rId7" Type="http://schemas.openxmlformats.org/officeDocument/2006/relationships/hyperlink" Target="https://youtube.com/watch?v=NeIR4-bxpuA&amp;feature=shar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/>
          <p:nvPr>
            <p:ph type="ctrTitle"/>
          </p:nvPr>
        </p:nvSpPr>
        <p:spPr>
          <a:xfrm>
            <a:off x="253263" y="564300"/>
            <a:ext cx="8687100" cy="18753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rgbClr val="FFFFFF"/>
                </a:solidFill>
              </a:rPr>
              <a:t>2 Min Review: Robert S. Duncanson, View of Cincinnati, Ohio from Covington, Kentucky</a:t>
            </a:r>
            <a:endParaRPr sz="4100">
              <a:solidFill>
                <a:srgbClr val="FFFFFF"/>
              </a:solidFill>
            </a:endParaRPr>
          </a:p>
        </p:txBody>
      </p:sp>
      <p:sp>
        <p:nvSpPr>
          <p:cNvPr id="109" name="Google Shape;109;p25"/>
          <p:cNvSpPr txBox="1"/>
          <p:nvPr/>
        </p:nvSpPr>
        <p:spPr>
          <a:xfrm>
            <a:off x="0" y="4795800"/>
            <a:ext cx="1586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BC34A"/>
                </a:solidFill>
                <a:latin typeface="Roboto Slab"/>
                <a:ea typeface="Roboto Slab"/>
                <a:cs typeface="Roboto Slab"/>
                <a:sym typeface="Roboto Slab"/>
              </a:rPr>
              <a:t>By: Matija Benko</a:t>
            </a:r>
            <a:endParaRPr sz="1200">
              <a:solidFill>
                <a:srgbClr val="8BC34A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10" name="Google Shape;11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8650" y="2439596"/>
            <a:ext cx="1586700" cy="1699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75" y="2963475"/>
            <a:ext cx="1604100" cy="20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6"/>
          <p:cNvSpPr/>
          <p:nvPr/>
        </p:nvSpPr>
        <p:spPr>
          <a:xfrm>
            <a:off x="3686677" y="1885445"/>
            <a:ext cx="1059900" cy="1020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6"/>
          <p:cNvSpPr/>
          <p:nvPr/>
        </p:nvSpPr>
        <p:spPr>
          <a:xfrm>
            <a:off x="2904216" y="2847750"/>
            <a:ext cx="851700" cy="819600"/>
          </a:xfrm>
          <a:prstGeom prst="ellipse">
            <a:avLst/>
          </a:prstGeom>
          <a:solidFill>
            <a:srgbClr val="0040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6"/>
          <p:cNvSpPr/>
          <p:nvPr/>
        </p:nvSpPr>
        <p:spPr>
          <a:xfrm>
            <a:off x="3610463" y="-811200"/>
            <a:ext cx="4362300" cy="3900900"/>
          </a:xfrm>
          <a:prstGeom prst="ellipse">
            <a:avLst/>
          </a:prstGeom>
          <a:solidFill>
            <a:srgbClr val="0040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6"/>
          <p:cNvSpPr txBox="1"/>
          <p:nvPr>
            <p:ph idx="1" type="body"/>
          </p:nvPr>
        </p:nvSpPr>
        <p:spPr>
          <a:xfrm>
            <a:off x="0" y="764325"/>
            <a:ext cx="8030700" cy="43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Char char="❖"/>
            </a:pPr>
            <a:r>
              <a:rPr lang="en" sz="2500">
                <a:solidFill>
                  <a:schemeClr val="accent6"/>
                </a:solidFill>
              </a:rPr>
              <a:t>Robert Seldon Duncanson:born ˜ 1821 in Fayette, New York(near Seneca Falls); Family moved to Monroe, MI</a:t>
            </a:r>
            <a:endParaRPr sz="2500">
              <a:solidFill>
                <a:schemeClr val="accent6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Char char="❖"/>
            </a:pPr>
            <a:r>
              <a:rPr lang="en" sz="2500">
                <a:solidFill>
                  <a:schemeClr val="accent6"/>
                </a:solidFill>
              </a:rPr>
              <a:t>1st African-American artist to get international acclaim</a:t>
            </a:r>
            <a:endParaRPr sz="2500">
              <a:solidFill>
                <a:schemeClr val="accent6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Char char="❖"/>
            </a:pPr>
            <a:r>
              <a:rPr lang="en" sz="2500">
                <a:solidFill>
                  <a:schemeClr val="accent6"/>
                </a:solidFill>
              </a:rPr>
              <a:t>self-taught (copied prints+painting portraits)</a:t>
            </a:r>
            <a:endParaRPr sz="2500">
              <a:solidFill>
                <a:schemeClr val="accent6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Char char="❖"/>
            </a:pPr>
            <a:r>
              <a:rPr lang="en" sz="2500">
                <a:solidFill>
                  <a:schemeClr val="accent6"/>
                </a:solidFill>
              </a:rPr>
              <a:t>1841:he </a:t>
            </a:r>
            <a:r>
              <a:rPr lang="en" sz="2500">
                <a:solidFill>
                  <a:schemeClr val="accent6"/>
                </a:solidFill>
              </a:rPr>
              <a:t>pursues a career as a fine artist in</a:t>
            </a:r>
            <a:r>
              <a:rPr lang="en" sz="2500">
                <a:solidFill>
                  <a:schemeClr val="accent6"/>
                </a:solidFill>
              </a:rPr>
              <a:t> Cincinnati, </a:t>
            </a:r>
            <a:r>
              <a:rPr lang="en" sz="2500" u="sng">
                <a:solidFill>
                  <a:schemeClr val="hlink"/>
                </a:solidFill>
                <a:hlinkClick r:id="rId4"/>
              </a:rPr>
              <a:t>Ohio</a:t>
            </a:r>
            <a:r>
              <a:rPr lang="en" sz="2500">
                <a:solidFill>
                  <a:schemeClr val="accent6"/>
                </a:solidFill>
              </a:rPr>
              <a:t>(a regional art center</a:t>
            </a:r>
            <a:r>
              <a:rPr lang="en" sz="2500">
                <a:solidFill>
                  <a:schemeClr val="accent6"/>
                </a:solidFill>
              </a:rPr>
              <a:t> leaning to </a:t>
            </a:r>
            <a:r>
              <a:rPr lang="en" sz="2500">
                <a:solidFill>
                  <a:schemeClr val="accent6"/>
                </a:solidFill>
              </a:rPr>
              <a:t>abolitionism)</a:t>
            </a:r>
            <a:endParaRPr sz="2500">
              <a:solidFill>
                <a:schemeClr val="accent6"/>
              </a:solidFill>
            </a:endParaRPr>
          </a:p>
        </p:txBody>
      </p:sp>
      <p:sp>
        <p:nvSpPr>
          <p:cNvPr id="120" name="Google Shape;120;p26"/>
          <p:cNvSpPr txBox="1"/>
          <p:nvPr>
            <p:ph type="title"/>
          </p:nvPr>
        </p:nvSpPr>
        <p:spPr>
          <a:xfrm>
            <a:off x="0" y="0"/>
            <a:ext cx="8368200" cy="89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</a:rPr>
              <a:t>Background of Artist</a:t>
            </a:r>
            <a:endParaRPr sz="50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9900" y="3064100"/>
            <a:ext cx="1604100" cy="20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7"/>
          <p:cNvSpPr/>
          <p:nvPr/>
        </p:nvSpPr>
        <p:spPr>
          <a:xfrm>
            <a:off x="3686677" y="1885445"/>
            <a:ext cx="1059900" cy="1020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/>
          <p:nvPr/>
        </p:nvSpPr>
        <p:spPr>
          <a:xfrm>
            <a:off x="2904216" y="2847750"/>
            <a:ext cx="851700" cy="819600"/>
          </a:xfrm>
          <a:prstGeom prst="ellipse">
            <a:avLst/>
          </a:prstGeom>
          <a:solidFill>
            <a:srgbClr val="0040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7"/>
          <p:cNvSpPr/>
          <p:nvPr/>
        </p:nvSpPr>
        <p:spPr>
          <a:xfrm>
            <a:off x="2345313" y="-1142750"/>
            <a:ext cx="4362300" cy="3900900"/>
          </a:xfrm>
          <a:prstGeom prst="ellipse">
            <a:avLst/>
          </a:prstGeom>
          <a:solidFill>
            <a:srgbClr val="0040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7"/>
          <p:cNvSpPr txBox="1"/>
          <p:nvPr>
            <p:ph type="title"/>
          </p:nvPr>
        </p:nvSpPr>
        <p:spPr>
          <a:xfrm>
            <a:off x="0" y="0"/>
            <a:ext cx="8368200" cy="89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</a:rPr>
              <a:t>Background of Artist 2</a:t>
            </a:r>
            <a:endParaRPr sz="5000">
              <a:solidFill>
                <a:schemeClr val="accent6"/>
              </a:solidFill>
            </a:endParaRPr>
          </a:p>
        </p:txBody>
      </p:sp>
      <p:sp>
        <p:nvSpPr>
          <p:cNvPr id="130" name="Google Shape;130;p27"/>
          <p:cNvSpPr txBox="1"/>
          <p:nvPr>
            <p:ph idx="1" type="body"/>
          </p:nvPr>
        </p:nvSpPr>
        <p:spPr>
          <a:xfrm>
            <a:off x="0" y="790500"/>
            <a:ext cx="9144000" cy="43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Char char="❖"/>
            </a:pPr>
            <a:r>
              <a:rPr lang="en" sz="2500">
                <a:solidFill>
                  <a:schemeClr val="accent6"/>
                </a:solidFill>
              </a:rPr>
              <a:t>Abolitionists loved Duncanson</a:t>
            </a:r>
            <a:endParaRPr sz="2500">
              <a:solidFill>
                <a:schemeClr val="accent6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Char char="❖"/>
            </a:pPr>
            <a:r>
              <a:rPr lang="en" sz="2500">
                <a:solidFill>
                  <a:schemeClr val="accent6"/>
                </a:solidFill>
              </a:rPr>
              <a:t>After 1850: in a group (defined Ohio River Valley style)</a:t>
            </a:r>
            <a:endParaRPr sz="2500">
              <a:solidFill>
                <a:schemeClr val="accent6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Char char="❖"/>
            </a:pPr>
            <a:r>
              <a:rPr lang="en" sz="2500">
                <a:solidFill>
                  <a:schemeClr val="accent6"/>
                </a:solidFill>
              </a:rPr>
              <a:t>toured Europe in 1853</a:t>
            </a:r>
            <a:endParaRPr sz="2500">
              <a:solidFill>
                <a:schemeClr val="accent6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Char char="❖"/>
            </a:pPr>
            <a:r>
              <a:rPr lang="en" sz="2500">
                <a:solidFill>
                  <a:schemeClr val="accent6"/>
                </a:solidFill>
              </a:rPr>
              <a:t>By early 1860s he moved to Montreal(bc of civil war), then left for Britain in 1865( exhibited several important paintings)</a:t>
            </a:r>
            <a:endParaRPr sz="2500">
              <a:solidFill>
                <a:schemeClr val="accent6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Char char="❖"/>
            </a:pPr>
            <a:r>
              <a:rPr lang="en" sz="2500">
                <a:solidFill>
                  <a:schemeClr val="accent6"/>
                </a:solidFill>
              </a:rPr>
              <a:t>He died in 1872 in Detroit after having a seizure</a:t>
            </a:r>
            <a:r>
              <a:rPr lang="en" sz="2500">
                <a:solidFill>
                  <a:schemeClr val="accent6"/>
                </a:solidFill>
              </a:rPr>
              <a:t> @ 51</a:t>
            </a:r>
            <a:endParaRPr sz="2500">
              <a:solidFill>
                <a:schemeClr val="accent6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Char char="❖"/>
            </a:pPr>
            <a:r>
              <a:rPr lang="en" sz="2500">
                <a:solidFill>
                  <a:schemeClr val="accent6"/>
                </a:solidFill>
              </a:rPr>
              <a:t>Duncanson’s work fell into obscurity for yrs</a:t>
            </a:r>
            <a:endParaRPr sz="2500">
              <a:solidFill>
                <a:schemeClr val="accent6"/>
              </a:solidFill>
            </a:endParaRPr>
          </a:p>
        </p:txBody>
      </p:sp>
      <p:pic>
        <p:nvPicPr>
          <p:cNvPr id="131" name="Google Shape;13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9001600" y="84788"/>
            <a:ext cx="78600" cy="5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0650" y="-7"/>
            <a:ext cx="923350" cy="164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8"/>
          <p:cNvPicPr preferRelativeResize="0"/>
          <p:nvPr/>
        </p:nvPicPr>
        <p:blipFill rotWithShape="1">
          <a:blip r:embed="rId3">
            <a:alphaModFix/>
          </a:blip>
          <a:srcRect b="11111" l="24291" r="23027" t="0"/>
          <a:stretch/>
        </p:blipFill>
        <p:spPr>
          <a:xfrm>
            <a:off x="6584625" y="1344924"/>
            <a:ext cx="732925" cy="79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5202" y="0"/>
            <a:ext cx="3111199" cy="1751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8"/>
          <p:cNvPicPr preferRelativeResize="0"/>
          <p:nvPr/>
        </p:nvPicPr>
        <p:blipFill rotWithShape="1">
          <a:blip r:embed="rId5">
            <a:alphaModFix/>
          </a:blip>
          <a:srcRect b="0" l="596" r="0" t="1283"/>
          <a:stretch/>
        </p:blipFill>
        <p:spPr>
          <a:xfrm>
            <a:off x="5686950" y="2227775"/>
            <a:ext cx="3457050" cy="238232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8"/>
          <p:cNvSpPr/>
          <p:nvPr/>
        </p:nvSpPr>
        <p:spPr>
          <a:xfrm>
            <a:off x="2191766" y="3363525"/>
            <a:ext cx="986100" cy="888900"/>
          </a:xfrm>
          <a:prstGeom prst="ellipse">
            <a:avLst/>
          </a:prstGeom>
          <a:solidFill>
            <a:srgbClr val="0040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8"/>
          <p:cNvSpPr/>
          <p:nvPr/>
        </p:nvSpPr>
        <p:spPr>
          <a:xfrm>
            <a:off x="-123937" y="-976975"/>
            <a:ext cx="4362300" cy="3900900"/>
          </a:xfrm>
          <a:prstGeom prst="ellipse">
            <a:avLst/>
          </a:prstGeom>
          <a:solidFill>
            <a:srgbClr val="0040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8"/>
          <p:cNvSpPr txBox="1"/>
          <p:nvPr>
            <p:ph type="title"/>
          </p:nvPr>
        </p:nvSpPr>
        <p:spPr>
          <a:xfrm>
            <a:off x="0" y="0"/>
            <a:ext cx="8756100" cy="85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</a:rPr>
              <a:t>The Art</a:t>
            </a:r>
            <a:endParaRPr sz="5000">
              <a:solidFill>
                <a:schemeClr val="accent6"/>
              </a:solidFill>
            </a:endParaRPr>
          </a:p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0" y="755050"/>
            <a:ext cx="7072800" cy="43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Char char="❖"/>
            </a:pPr>
            <a:r>
              <a:rPr lang="en" sz="2500">
                <a:solidFill>
                  <a:schemeClr val="accent6"/>
                </a:solidFill>
              </a:rPr>
              <a:t>Title:</a:t>
            </a:r>
            <a:r>
              <a:rPr i="1" lang="en" sz="2500">
                <a:solidFill>
                  <a:schemeClr val="accent6"/>
                </a:solidFill>
              </a:rPr>
              <a:t> View of Cincinnati, </a:t>
            </a:r>
            <a:r>
              <a:rPr lang="en" sz="2500">
                <a:solidFill>
                  <a:schemeClr val="accent6"/>
                </a:solidFill>
              </a:rPr>
              <a:t>Ohio</a:t>
            </a:r>
            <a:r>
              <a:rPr i="1" lang="en" sz="2500">
                <a:solidFill>
                  <a:schemeClr val="accent6"/>
                </a:solidFill>
              </a:rPr>
              <a:t> from Covington, Kentucky</a:t>
            </a:r>
            <a:endParaRPr i="1" sz="2500">
              <a:solidFill>
                <a:schemeClr val="accent6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Char char="❖"/>
            </a:pPr>
            <a:r>
              <a:rPr lang="en" sz="2500">
                <a:solidFill>
                  <a:schemeClr val="accent6"/>
                </a:solidFill>
              </a:rPr>
              <a:t>Made in 1850</a:t>
            </a:r>
            <a:endParaRPr sz="2500">
              <a:solidFill>
                <a:schemeClr val="accent6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Char char="❖"/>
            </a:pPr>
            <a:r>
              <a:rPr lang="en" sz="2500">
                <a:solidFill>
                  <a:schemeClr val="accent6"/>
                </a:solidFill>
              </a:rPr>
              <a:t>Medium: Oil on canvas</a:t>
            </a:r>
            <a:r>
              <a:rPr lang="en" sz="500">
                <a:solidFill>
                  <a:schemeClr val="accent6"/>
                </a:solidFill>
              </a:rPr>
              <a:t>(couldn’t get size{sorry})</a:t>
            </a:r>
            <a:endParaRPr sz="500">
              <a:solidFill>
                <a:schemeClr val="accent6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Char char="❖"/>
            </a:pPr>
            <a:r>
              <a:rPr lang="en" sz="2500">
                <a:solidFill>
                  <a:schemeClr val="accent6"/>
                </a:solidFill>
              </a:rPr>
              <a:t>Ohio River separated the Slave state of Kentucky from the more industrialized, Free state of </a:t>
            </a:r>
            <a:r>
              <a:rPr lang="en" sz="25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Ohio</a:t>
            </a:r>
            <a:r>
              <a:rPr lang="en" sz="2500">
                <a:solidFill>
                  <a:schemeClr val="accent6"/>
                </a:solidFill>
              </a:rPr>
              <a:t>(slavery was banned since 1802)</a:t>
            </a:r>
            <a:endParaRPr sz="2500">
              <a:solidFill>
                <a:schemeClr val="accent6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Char char="❖"/>
            </a:pPr>
            <a:r>
              <a:rPr lang="en" sz="2500">
                <a:solidFill>
                  <a:schemeClr val="accent6"/>
                </a:solidFill>
              </a:rPr>
              <a:t>When the Ohio river freezes, slaves cross to go to </a:t>
            </a:r>
            <a:r>
              <a:rPr lang="en" sz="2500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Ohio</a:t>
            </a:r>
            <a:endParaRPr sz="25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/>
          <p:nvPr/>
        </p:nvSpPr>
        <p:spPr>
          <a:xfrm>
            <a:off x="3971166" y="2753925"/>
            <a:ext cx="1054800" cy="943200"/>
          </a:xfrm>
          <a:prstGeom prst="ellipse">
            <a:avLst/>
          </a:prstGeom>
          <a:solidFill>
            <a:srgbClr val="0040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9"/>
          <p:cNvSpPr/>
          <p:nvPr/>
        </p:nvSpPr>
        <p:spPr>
          <a:xfrm>
            <a:off x="-403137" y="2068125"/>
            <a:ext cx="4362300" cy="3900900"/>
          </a:xfrm>
          <a:prstGeom prst="ellipse">
            <a:avLst/>
          </a:prstGeom>
          <a:solidFill>
            <a:srgbClr val="0040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9"/>
          <p:cNvSpPr txBox="1"/>
          <p:nvPr>
            <p:ph type="title"/>
          </p:nvPr>
        </p:nvSpPr>
        <p:spPr>
          <a:xfrm>
            <a:off x="329350" y="0"/>
            <a:ext cx="8712900" cy="445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>
                <a:solidFill>
                  <a:srgbClr val="FFFFFF"/>
                </a:solidFill>
              </a:rPr>
              <a:t>Thank You!</a:t>
            </a:r>
            <a:endParaRPr sz="15500">
              <a:solidFill>
                <a:srgbClr val="FFFFFF"/>
              </a:solidFill>
            </a:endParaRPr>
          </a:p>
        </p:txBody>
      </p:sp>
      <p:pic>
        <p:nvPicPr>
          <p:cNvPr descr="Terminator Im GIF - Terminator Im Back GIFs" id="151" name="Google Shape;15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8200" y="1592425"/>
            <a:ext cx="4215800" cy="348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C0C0C0"/>
      </a:dk1>
      <a:lt1>
        <a:srgbClr val="00517C"/>
      </a:lt1>
      <a:dk2>
        <a:srgbClr val="004065"/>
      </a:dk2>
      <a:lt2>
        <a:srgbClr val="FFA9A9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FFFF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
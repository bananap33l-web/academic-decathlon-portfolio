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Playfair Display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fairDisplay-bold.fntdata"/><Relationship Id="rId22" Type="http://schemas.openxmlformats.org/officeDocument/2006/relationships/font" Target="fonts/PlayfairDisplay-boldItalic.fntdata"/><Relationship Id="rId21" Type="http://schemas.openxmlformats.org/officeDocument/2006/relationships/font" Target="fonts/PlayfairDisplay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layfairDisplay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6733586578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16733586578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69f1026354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69f1026354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6733586578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6733586578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688c2e1837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688c2e183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688c2e1837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1688c2e1837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688c2e1837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1688c2e1837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688c2e1837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1688c2e1837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688c2e1837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1688c2e1837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688c2e1837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1688c2e1837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688c2e1837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1688c2e1837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688c2e1837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688c2e1837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688c2e1837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1688c2e1837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" name="Google Shape;12;p2"/>
          <p:cNvCxnSpPr/>
          <p:nvPr/>
        </p:nvCxnSpPr>
        <p:spPr>
          <a:xfrm>
            <a:off x="733219" y="2235351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630600" y="136800"/>
            <a:ext cx="7893000" cy="185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630600" y="3228375"/>
            <a:ext cx="7893000" cy="127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 txBox="1"/>
          <p:nvPr>
            <p:ph type="title"/>
          </p:nvPr>
        </p:nvSpPr>
        <p:spPr>
          <a:xfrm>
            <a:off x="509550" y="1921350"/>
            <a:ext cx="8124900" cy="130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-125" y="5045700"/>
            <a:ext cx="9144000" cy="97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" name="Google Shape;23;p4"/>
          <p:cNvCxnSpPr/>
          <p:nvPr/>
        </p:nvCxnSpPr>
        <p:spPr>
          <a:xfrm>
            <a:off x="419425" y="1154195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5"/>
          <p:cNvCxnSpPr/>
          <p:nvPr/>
        </p:nvCxnSpPr>
        <p:spPr>
          <a:xfrm>
            <a:off x="419425" y="1154195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5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311700" y="1417950"/>
            <a:ext cx="39999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832400" y="1417950"/>
            <a:ext cx="39999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Google Shape;37;p7"/>
          <p:cNvCxnSpPr/>
          <p:nvPr/>
        </p:nvCxnSpPr>
        <p:spPr>
          <a:xfrm>
            <a:off x="411044" y="1417772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" name="Google Shape;3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1640350"/>
            <a:ext cx="2808000" cy="29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8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5" name="Google Shape;4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/>
          <p:nvPr/>
        </p:nvSpPr>
        <p:spPr>
          <a:xfrm>
            <a:off x="4572000" y="-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" name="Google Shape;4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p9"/>
          <p:cNvSpPr txBox="1"/>
          <p:nvPr>
            <p:ph type="title"/>
          </p:nvPr>
        </p:nvSpPr>
        <p:spPr>
          <a:xfrm>
            <a:off x="265500" y="1084625"/>
            <a:ext cx="4045200" cy="170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0" name="Google Shape;50;p9"/>
          <p:cNvSpPr txBox="1"/>
          <p:nvPr>
            <p:ph idx="1" type="subTitle"/>
          </p:nvPr>
        </p:nvSpPr>
        <p:spPr>
          <a:xfrm>
            <a:off x="265500" y="2845200"/>
            <a:ext cx="4045200" cy="1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1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1"/>
          <p:cNvSpPr txBox="1"/>
          <p:nvPr>
            <p:ph hasCustomPrompt="1" type="title"/>
          </p:nvPr>
        </p:nvSpPr>
        <p:spPr>
          <a:xfrm>
            <a:off x="586725" y="1353788"/>
            <a:ext cx="79707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586725" y="2968388"/>
            <a:ext cx="79707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lue-gold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0" y="4600025"/>
            <a:ext cx="2076300" cy="48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/>
              <a:t>By Matija Benko</a:t>
            </a:r>
            <a:endParaRPr sz="2000"/>
          </a:p>
        </p:txBody>
      </p:sp>
      <p:sp>
        <p:nvSpPr>
          <p:cNvPr id="69" name="Google Shape;69;p13"/>
          <p:cNvSpPr txBox="1"/>
          <p:nvPr>
            <p:ph type="ctrTitle"/>
          </p:nvPr>
        </p:nvSpPr>
        <p:spPr>
          <a:xfrm>
            <a:off x="250" y="0"/>
            <a:ext cx="9144000" cy="29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4100"/>
              <a:t>OXIDATION-REDUCTION</a:t>
            </a:r>
            <a:endParaRPr sz="41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4100"/>
              <a:t>REACTIONS-Luigi Brugnatelli and The Development of Electroplating(62-66)</a:t>
            </a:r>
            <a:endParaRPr sz="4100"/>
          </a:p>
        </p:txBody>
      </p:sp>
      <p:grpSp>
        <p:nvGrpSpPr>
          <p:cNvPr id="70" name="Google Shape;70;p13"/>
          <p:cNvGrpSpPr/>
          <p:nvPr/>
        </p:nvGrpSpPr>
        <p:grpSpPr>
          <a:xfrm>
            <a:off x="716639" y="1850525"/>
            <a:ext cx="457933" cy="488378"/>
            <a:chOff x="914900" y="3806450"/>
            <a:chExt cx="451700" cy="481825"/>
          </a:xfrm>
        </p:grpSpPr>
        <p:sp>
          <p:nvSpPr>
            <p:cNvPr id="71" name="Google Shape;71;p13"/>
            <p:cNvSpPr/>
            <p:nvPr/>
          </p:nvSpPr>
          <p:spPr>
            <a:xfrm>
              <a:off x="914900" y="4174425"/>
              <a:ext cx="423400" cy="113850"/>
            </a:xfrm>
            <a:custGeom>
              <a:rect b="b" l="l" r="r" t="t"/>
              <a:pathLst>
                <a:path extrusionOk="0" h="4554" w="16936">
                  <a:moveTo>
                    <a:pt x="564" y="0"/>
                  </a:moveTo>
                  <a:cubicBezTo>
                    <a:pt x="250" y="0"/>
                    <a:pt x="0" y="250"/>
                    <a:pt x="0" y="563"/>
                  </a:cubicBezTo>
                  <a:cubicBezTo>
                    <a:pt x="0" y="877"/>
                    <a:pt x="250" y="1130"/>
                    <a:pt x="564" y="1130"/>
                  </a:cubicBezTo>
                  <a:lnTo>
                    <a:pt x="2259" y="1130"/>
                  </a:lnTo>
                  <a:lnTo>
                    <a:pt x="2259" y="2861"/>
                  </a:lnTo>
                  <a:cubicBezTo>
                    <a:pt x="2259" y="3795"/>
                    <a:pt x="3015" y="4553"/>
                    <a:pt x="3951" y="4553"/>
                  </a:cubicBezTo>
                  <a:cubicBezTo>
                    <a:pt x="4264" y="4553"/>
                    <a:pt x="4517" y="4300"/>
                    <a:pt x="4517" y="3990"/>
                  </a:cubicBezTo>
                  <a:lnTo>
                    <a:pt x="4517" y="1130"/>
                  </a:lnTo>
                  <a:lnTo>
                    <a:pt x="5646" y="1130"/>
                  </a:lnTo>
                  <a:lnTo>
                    <a:pt x="5646" y="1693"/>
                  </a:lnTo>
                  <a:cubicBezTo>
                    <a:pt x="5646" y="2629"/>
                    <a:pt x="6402" y="3424"/>
                    <a:pt x="7339" y="3424"/>
                  </a:cubicBezTo>
                  <a:cubicBezTo>
                    <a:pt x="7652" y="3424"/>
                    <a:pt x="7905" y="3171"/>
                    <a:pt x="7905" y="2861"/>
                  </a:cubicBezTo>
                  <a:lnTo>
                    <a:pt x="7905" y="1130"/>
                  </a:lnTo>
                  <a:lnTo>
                    <a:pt x="9034" y="1130"/>
                  </a:lnTo>
                  <a:lnTo>
                    <a:pt x="9034" y="3990"/>
                  </a:lnTo>
                  <a:cubicBezTo>
                    <a:pt x="9034" y="4300"/>
                    <a:pt x="9284" y="4553"/>
                    <a:pt x="9597" y="4553"/>
                  </a:cubicBezTo>
                  <a:cubicBezTo>
                    <a:pt x="9910" y="4553"/>
                    <a:pt x="10163" y="4300"/>
                    <a:pt x="10163" y="3990"/>
                  </a:cubicBezTo>
                  <a:lnTo>
                    <a:pt x="10163" y="1130"/>
                  </a:lnTo>
                  <a:lnTo>
                    <a:pt x="16373" y="1130"/>
                  </a:lnTo>
                  <a:cubicBezTo>
                    <a:pt x="16686" y="1130"/>
                    <a:pt x="16936" y="877"/>
                    <a:pt x="16936" y="563"/>
                  </a:cubicBezTo>
                  <a:cubicBezTo>
                    <a:pt x="16936" y="250"/>
                    <a:pt x="16686" y="0"/>
                    <a:pt x="163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999548" y="3806450"/>
              <a:ext cx="254100" cy="339775"/>
            </a:xfrm>
            <a:custGeom>
              <a:rect b="b" l="l" r="r" t="t"/>
              <a:pathLst>
                <a:path extrusionOk="0" h="13591" w="10164">
                  <a:moveTo>
                    <a:pt x="7563" y="2032"/>
                  </a:moveTo>
                  <a:cubicBezTo>
                    <a:pt x="7853" y="2032"/>
                    <a:pt x="8131" y="2256"/>
                    <a:pt x="8131" y="2596"/>
                  </a:cubicBezTo>
                  <a:cubicBezTo>
                    <a:pt x="8131" y="2937"/>
                    <a:pt x="7852" y="3163"/>
                    <a:pt x="7562" y="3163"/>
                  </a:cubicBezTo>
                  <a:cubicBezTo>
                    <a:pt x="7423" y="3163"/>
                    <a:pt x="7282" y="3111"/>
                    <a:pt x="7168" y="2997"/>
                  </a:cubicBezTo>
                  <a:cubicBezTo>
                    <a:pt x="6945" y="2777"/>
                    <a:pt x="6945" y="2418"/>
                    <a:pt x="7168" y="2199"/>
                  </a:cubicBezTo>
                  <a:cubicBezTo>
                    <a:pt x="7283" y="2083"/>
                    <a:pt x="7425" y="2032"/>
                    <a:pt x="7563" y="2032"/>
                  </a:cubicBezTo>
                  <a:close/>
                  <a:moveTo>
                    <a:pt x="7339" y="0"/>
                  </a:moveTo>
                  <a:cubicBezTo>
                    <a:pt x="5412" y="0"/>
                    <a:pt x="3759" y="1087"/>
                    <a:pt x="2901" y="2668"/>
                  </a:cubicBezTo>
                  <a:cubicBezTo>
                    <a:pt x="2852" y="2674"/>
                    <a:pt x="2804" y="2686"/>
                    <a:pt x="2762" y="2704"/>
                  </a:cubicBezTo>
                  <a:cubicBezTo>
                    <a:pt x="2602" y="2782"/>
                    <a:pt x="2431" y="2819"/>
                    <a:pt x="2260" y="2819"/>
                  </a:cubicBezTo>
                  <a:cubicBezTo>
                    <a:pt x="1967" y="2819"/>
                    <a:pt x="1678" y="2707"/>
                    <a:pt x="1458" y="2494"/>
                  </a:cubicBezTo>
                  <a:cubicBezTo>
                    <a:pt x="1247" y="2280"/>
                    <a:pt x="1127" y="1994"/>
                    <a:pt x="1130" y="1696"/>
                  </a:cubicBezTo>
                  <a:cubicBezTo>
                    <a:pt x="1130" y="1395"/>
                    <a:pt x="1247" y="1178"/>
                    <a:pt x="1458" y="964"/>
                  </a:cubicBezTo>
                  <a:cubicBezTo>
                    <a:pt x="1681" y="744"/>
                    <a:pt x="1681" y="386"/>
                    <a:pt x="1458" y="166"/>
                  </a:cubicBezTo>
                  <a:cubicBezTo>
                    <a:pt x="1348" y="56"/>
                    <a:pt x="1204" y="1"/>
                    <a:pt x="1059" y="1"/>
                  </a:cubicBezTo>
                  <a:cubicBezTo>
                    <a:pt x="915" y="1"/>
                    <a:pt x="770" y="56"/>
                    <a:pt x="660" y="166"/>
                  </a:cubicBezTo>
                  <a:cubicBezTo>
                    <a:pt x="236" y="594"/>
                    <a:pt x="1" y="1093"/>
                    <a:pt x="1" y="1696"/>
                  </a:cubicBezTo>
                  <a:cubicBezTo>
                    <a:pt x="1" y="2942"/>
                    <a:pt x="1010" y="3954"/>
                    <a:pt x="2259" y="3954"/>
                  </a:cubicBezTo>
                  <a:cubicBezTo>
                    <a:pt x="2307" y="3954"/>
                    <a:pt x="2353" y="3939"/>
                    <a:pt x="2401" y="3936"/>
                  </a:cubicBezTo>
                  <a:lnTo>
                    <a:pt x="2401" y="3936"/>
                  </a:lnTo>
                  <a:cubicBezTo>
                    <a:pt x="2319" y="4282"/>
                    <a:pt x="2274" y="4635"/>
                    <a:pt x="2265" y="4990"/>
                  </a:cubicBezTo>
                  <a:cubicBezTo>
                    <a:pt x="2976" y="4680"/>
                    <a:pt x="3741" y="4517"/>
                    <a:pt x="4518" y="4517"/>
                  </a:cubicBezTo>
                  <a:lnTo>
                    <a:pt x="5081" y="4517"/>
                  </a:lnTo>
                  <a:cubicBezTo>
                    <a:pt x="6017" y="4517"/>
                    <a:pt x="6773" y="5276"/>
                    <a:pt x="6776" y="6213"/>
                  </a:cubicBezTo>
                  <a:lnTo>
                    <a:pt x="6776" y="9073"/>
                  </a:lnTo>
                  <a:cubicBezTo>
                    <a:pt x="6776" y="10925"/>
                    <a:pt x="5864" y="12557"/>
                    <a:pt x="4482" y="13590"/>
                  </a:cubicBezTo>
                  <a:lnTo>
                    <a:pt x="6210" y="13590"/>
                  </a:lnTo>
                  <a:cubicBezTo>
                    <a:pt x="8393" y="13590"/>
                    <a:pt x="10164" y="11820"/>
                    <a:pt x="10164" y="9636"/>
                  </a:cubicBezTo>
                  <a:lnTo>
                    <a:pt x="1016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999536" y="3948044"/>
              <a:ext cx="141175" cy="198625"/>
            </a:xfrm>
            <a:custGeom>
              <a:rect b="b" l="l" r="r" t="t"/>
              <a:pathLst>
                <a:path extrusionOk="0" h="7945" w="5647">
                  <a:moveTo>
                    <a:pt x="4518" y="0"/>
                  </a:moveTo>
                  <a:cubicBezTo>
                    <a:pt x="2021" y="0"/>
                    <a:pt x="1" y="2060"/>
                    <a:pt x="1" y="4556"/>
                  </a:cubicBezTo>
                  <a:lnTo>
                    <a:pt x="1" y="6815"/>
                  </a:lnTo>
                  <a:cubicBezTo>
                    <a:pt x="934" y="6812"/>
                    <a:pt x="1693" y="6056"/>
                    <a:pt x="1693" y="5120"/>
                  </a:cubicBezTo>
                  <a:cubicBezTo>
                    <a:pt x="1693" y="4806"/>
                    <a:pt x="1946" y="4556"/>
                    <a:pt x="2259" y="4556"/>
                  </a:cubicBezTo>
                  <a:cubicBezTo>
                    <a:pt x="2569" y="4556"/>
                    <a:pt x="2822" y="4806"/>
                    <a:pt x="2822" y="5120"/>
                  </a:cubicBezTo>
                  <a:cubicBezTo>
                    <a:pt x="2822" y="6547"/>
                    <a:pt x="1753" y="7718"/>
                    <a:pt x="377" y="7905"/>
                  </a:cubicBezTo>
                  <a:cubicBezTo>
                    <a:pt x="434" y="7929"/>
                    <a:pt x="501" y="7941"/>
                    <a:pt x="564" y="7944"/>
                  </a:cubicBezTo>
                  <a:lnTo>
                    <a:pt x="1130" y="7944"/>
                  </a:lnTo>
                  <a:cubicBezTo>
                    <a:pt x="3623" y="7944"/>
                    <a:pt x="5647" y="5921"/>
                    <a:pt x="5647" y="3427"/>
                  </a:cubicBezTo>
                  <a:lnTo>
                    <a:pt x="5647" y="567"/>
                  </a:lnTo>
                  <a:cubicBezTo>
                    <a:pt x="5647" y="253"/>
                    <a:pt x="5394" y="0"/>
                    <a:pt x="5081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1253675" y="3806450"/>
              <a:ext cx="112925" cy="90350"/>
            </a:xfrm>
            <a:custGeom>
              <a:rect b="b" l="l" r="r" t="t"/>
              <a:pathLst>
                <a:path extrusionOk="0" h="3614" w="4517">
                  <a:moveTo>
                    <a:pt x="0" y="0"/>
                  </a:moveTo>
                  <a:lnTo>
                    <a:pt x="0" y="1696"/>
                  </a:lnTo>
                  <a:cubicBezTo>
                    <a:pt x="142" y="1685"/>
                    <a:pt x="428" y="1669"/>
                    <a:pt x="771" y="1669"/>
                  </a:cubicBezTo>
                  <a:cubicBezTo>
                    <a:pt x="1415" y="1669"/>
                    <a:pt x="2264" y="1726"/>
                    <a:pt x="2749" y="1988"/>
                  </a:cubicBezTo>
                  <a:cubicBezTo>
                    <a:pt x="3355" y="2313"/>
                    <a:pt x="4062" y="3078"/>
                    <a:pt x="4517" y="3614"/>
                  </a:cubicBezTo>
                  <a:lnTo>
                    <a:pt x="4517" y="2259"/>
                  </a:lnTo>
                  <a:cubicBezTo>
                    <a:pt x="4517" y="1012"/>
                    <a:pt x="3505" y="0"/>
                    <a:pt x="2258" y="0"/>
                  </a:cubicBez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1253600" y="3876425"/>
              <a:ext cx="95025" cy="42975"/>
            </a:xfrm>
            <a:custGeom>
              <a:rect b="b" l="l" r="r" t="t"/>
              <a:pathLst>
                <a:path extrusionOk="0" h="1719" w="3801">
                  <a:moveTo>
                    <a:pt x="726" y="0"/>
                  </a:moveTo>
                  <a:cubicBezTo>
                    <a:pt x="478" y="0"/>
                    <a:pt x="239" y="9"/>
                    <a:pt x="42" y="23"/>
                  </a:cubicBezTo>
                  <a:lnTo>
                    <a:pt x="0" y="23"/>
                  </a:lnTo>
                  <a:lnTo>
                    <a:pt x="3" y="1718"/>
                  </a:lnTo>
                  <a:lnTo>
                    <a:pt x="3800" y="1718"/>
                  </a:lnTo>
                  <a:cubicBezTo>
                    <a:pt x="3379" y="1203"/>
                    <a:pt x="2692" y="438"/>
                    <a:pt x="2219" y="182"/>
                  </a:cubicBezTo>
                  <a:cubicBezTo>
                    <a:pt x="1969" y="49"/>
                    <a:pt x="1321" y="0"/>
                    <a:pt x="726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76" name="Google Shape;76;p13"/>
          <p:cNvSpPr txBox="1"/>
          <p:nvPr/>
        </p:nvSpPr>
        <p:spPr>
          <a:xfrm>
            <a:off x="9444275" y="1109100"/>
            <a:ext cx="17097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No Luigia For you!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/>
          <p:nvPr/>
        </p:nvSpPr>
        <p:spPr>
          <a:xfrm>
            <a:off x="-1335812" y="1017600"/>
            <a:ext cx="4362300" cy="3900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4"/>
          <p:cNvSpPr txBox="1"/>
          <p:nvPr>
            <p:ph idx="1" type="body"/>
          </p:nvPr>
        </p:nvSpPr>
        <p:spPr>
          <a:xfrm>
            <a:off x="-76200" y="1017600"/>
            <a:ext cx="5461800" cy="41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Oxidation frees electrons from one reactant, then are used in the reduction of other reactant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" sz="2500"/>
              <a:t>sodium has 11 electrons, one is valence electron; when sodium changes to an ion wit</a:t>
            </a:r>
            <a:r>
              <a:rPr lang="en" sz="2500"/>
              <a:t>h +1 charge</a:t>
            </a:r>
            <a:r>
              <a:rPr lang="en" sz="2500"/>
              <a:t>, it frees an electron</a:t>
            </a:r>
            <a:endParaRPr sz="2500"/>
          </a:p>
        </p:txBody>
      </p:sp>
      <p:sp>
        <p:nvSpPr>
          <p:cNvPr id="83" name="Google Shape;83;p14"/>
          <p:cNvSpPr txBox="1"/>
          <p:nvPr>
            <p:ph type="title"/>
          </p:nvPr>
        </p:nvSpPr>
        <p:spPr>
          <a:xfrm>
            <a:off x="53400" y="0"/>
            <a:ext cx="8778900" cy="10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What is Oxidation?</a:t>
            </a:r>
            <a:endParaRPr sz="5000"/>
          </a:p>
        </p:txBody>
      </p:sp>
      <p:pic>
        <p:nvPicPr>
          <p:cNvPr descr="Oxygen Not Included | Download and Buy Today - Epic Games Store" id="84" name="Google Shape;84;p14"/>
          <p:cNvPicPr preferRelativeResize="0"/>
          <p:nvPr/>
        </p:nvPicPr>
        <p:blipFill rotWithShape="1">
          <a:blip r:embed="rId3">
            <a:alphaModFix/>
          </a:blip>
          <a:srcRect b="28087" l="26779" r="27285" t="30692"/>
          <a:stretch/>
        </p:blipFill>
        <p:spPr>
          <a:xfrm>
            <a:off x="5303275" y="1376675"/>
            <a:ext cx="3840725" cy="194162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4"/>
          <p:cNvSpPr/>
          <p:nvPr/>
        </p:nvSpPr>
        <p:spPr>
          <a:xfrm>
            <a:off x="6623550" y="2561500"/>
            <a:ext cx="2329800" cy="564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</a:rPr>
              <a:t>NECESSARY</a:t>
            </a:r>
            <a:endParaRPr b="1" sz="2500">
              <a:solidFill>
                <a:schemeClr val="dk1"/>
              </a:solidFill>
            </a:endParaRPr>
          </a:p>
        </p:txBody>
      </p:sp>
      <p:pic>
        <p:nvPicPr>
          <p:cNvPr id="86" name="Google Shape;8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18397" y="3585422"/>
            <a:ext cx="1254500" cy="133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/>
          <p:nvPr>
            <p:ph idx="1" type="body"/>
          </p:nvPr>
        </p:nvSpPr>
        <p:spPr>
          <a:xfrm>
            <a:off x="0" y="823350"/>
            <a:ext cx="6974100" cy="43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The freed electron from Na goes into a positive Ag ion, making the latter turn into a Ag atom(reduction)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Oxidation-reduction(Redox) reaction is one or more electrons getting sent between reactants</a:t>
            </a:r>
            <a:endParaRPr sz="2500"/>
          </a:p>
        </p:txBody>
      </p:sp>
      <p:sp>
        <p:nvSpPr>
          <p:cNvPr id="92" name="Google Shape;92;p15"/>
          <p:cNvSpPr txBox="1"/>
          <p:nvPr>
            <p:ph type="title"/>
          </p:nvPr>
        </p:nvSpPr>
        <p:spPr>
          <a:xfrm>
            <a:off x="311700" y="203200"/>
            <a:ext cx="85206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What is Reduction</a:t>
            </a:r>
            <a:r>
              <a:rPr lang="en" sz="5000"/>
              <a:t>?</a:t>
            </a:r>
            <a:endParaRPr sz="5000"/>
          </a:p>
        </p:txBody>
      </p:sp>
      <p:pic>
        <p:nvPicPr>
          <p:cNvPr id="93" name="Google Shape;93;p15"/>
          <p:cNvPicPr preferRelativeResize="0"/>
          <p:nvPr/>
        </p:nvPicPr>
        <p:blipFill rotWithShape="1">
          <a:blip r:embed="rId3">
            <a:alphaModFix/>
          </a:blip>
          <a:srcRect b="11382" l="5329" r="5392" t="6495"/>
          <a:stretch/>
        </p:blipFill>
        <p:spPr>
          <a:xfrm>
            <a:off x="5986225" y="2967075"/>
            <a:ext cx="3157775" cy="220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/>
          <p:nvPr/>
        </p:nvSpPr>
        <p:spPr>
          <a:xfrm>
            <a:off x="-691411" y="1228650"/>
            <a:ext cx="5724600" cy="5724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6"/>
          <p:cNvSpPr txBox="1"/>
          <p:nvPr>
            <p:ph idx="1" type="body"/>
          </p:nvPr>
        </p:nvSpPr>
        <p:spPr>
          <a:xfrm>
            <a:off x="2369100" y="721675"/>
            <a:ext cx="6153900" cy="38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O</a:t>
            </a:r>
            <a:r>
              <a:rPr lang="en" sz="2500"/>
              <a:t>xidation # is # of electrons an atom has to get/give to </a:t>
            </a:r>
            <a:r>
              <a:rPr lang="en" sz="2500"/>
              <a:t>separate</a:t>
            </a:r>
            <a:r>
              <a:rPr lang="en" sz="2500"/>
              <a:t> from a compound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" sz="2500"/>
              <a:t>Can be positive/negative/zero</a:t>
            </a:r>
            <a:endParaRPr sz="2500"/>
          </a:p>
          <a:p>
            <a:pPr indent="-387350" lvl="2" marL="1371600" rtl="0" algn="l">
              <a:spcBef>
                <a:spcPts val="0"/>
              </a:spcBef>
              <a:spcAft>
                <a:spcPts val="0"/>
              </a:spcAft>
              <a:buSzPts val="2500"/>
              <a:buChar char="■"/>
            </a:pPr>
            <a:r>
              <a:rPr lang="en" sz="2500"/>
              <a:t>In AgCl, Ag is +1 and Cl is –1</a:t>
            </a:r>
            <a:endParaRPr sz="2500"/>
          </a:p>
          <a:p>
            <a:pPr indent="-387350" lvl="2" marL="1371600" rtl="0" algn="l">
              <a:spcBef>
                <a:spcPts val="0"/>
              </a:spcBef>
              <a:spcAft>
                <a:spcPts val="0"/>
              </a:spcAft>
              <a:buSzPts val="2500"/>
              <a:buChar char="■"/>
            </a:pPr>
            <a:r>
              <a:rPr lang="en" sz="2500"/>
              <a:t>in Al</a:t>
            </a:r>
            <a:r>
              <a:rPr baseline="-25000" lang="en" sz="2500"/>
              <a:t>2</a:t>
            </a:r>
            <a:r>
              <a:rPr lang="en" sz="2500"/>
              <a:t>O</a:t>
            </a:r>
            <a:r>
              <a:rPr baseline="-25000" lang="en" sz="2500"/>
              <a:t>3</a:t>
            </a:r>
            <a:r>
              <a:rPr lang="en" sz="2500"/>
              <a:t>,  each Al atom # is +3, each O atom # is –2</a:t>
            </a:r>
            <a:endParaRPr/>
          </a:p>
        </p:txBody>
      </p:sp>
      <p:sp>
        <p:nvSpPr>
          <p:cNvPr id="100" name="Google Shape;100;p16"/>
          <p:cNvSpPr txBox="1"/>
          <p:nvPr>
            <p:ph type="title"/>
          </p:nvPr>
        </p:nvSpPr>
        <p:spPr>
          <a:xfrm>
            <a:off x="-24225" y="-136925"/>
            <a:ext cx="9231300" cy="85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Oxidation Numbers</a:t>
            </a:r>
            <a:endParaRPr sz="5000"/>
          </a:p>
        </p:txBody>
      </p:sp>
      <p:pic>
        <p:nvPicPr>
          <p:cNvPr id="101" name="Google Shape;10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51375"/>
            <a:ext cx="2888175" cy="296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/>
          <p:nvPr/>
        </p:nvSpPr>
        <p:spPr>
          <a:xfrm>
            <a:off x="-691411" y="1228650"/>
            <a:ext cx="5724600" cy="5724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7"/>
          <p:cNvSpPr txBox="1"/>
          <p:nvPr>
            <p:ph type="title"/>
          </p:nvPr>
        </p:nvSpPr>
        <p:spPr>
          <a:xfrm>
            <a:off x="311700" y="179200"/>
            <a:ext cx="8832300" cy="8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Rules for </a:t>
            </a:r>
            <a:r>
              <a:rPr lang="en" sz="5000"/>
              <a:t>Oxidation Numbers</a:t>
            </a:r>
            <a:endParaRPr/>
          </a:p>
        </p:txBody>
      </p:sp>
      <p:sp>
        <p:nvSpPr>
          <p:cNvPr id="108" name="Google Shape;108;p17"/>
          <p:cNvSpPr txBox="1"/>
          <p:nvPr>
            <p:ph idx="1" type="body"/>
          </p:nvPr>
        </p:nvSpPr>
        <p:spPr>
          <a:xfrm>
            <a:off x="311700" y="1417800"/>
            <a:ext cx="55824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There are two regular* rules for knowing compounds that form these elements: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" sz="2500"/>
              <a:t>H and group 1 elements have oxidation #s of +1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" sz="2500"/>
              <a:t>The oxidation # of O is –2</a:t>
            </a:r>
            <a:endParaRPr sz="2500"/>
          </a:p>
        </p:txBody>
      </p:sp>
      <p:pic>
        <p:nvPicPr>
          <p:cNvPr id="109" name="Google Shape;10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3600" y="1343925"/>
            <a:ext cx="3540401" cy="379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idx="1" type="body"/>
          </p:nvPr>
        </p:nvSpPr>
        <p:spPr>
          <a:xfrm>
            <a:off x="0" y="934750"/>
            <a:ext cx="9144000" cy="42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More rules for oxidation #s in general: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" sz="2500"/>
              <a:t>Oxidation # of an ion is its charge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" sz="2500"/>
              <a:t>Neutral atoms have an oxidation # of 0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" sz="2500"/>
              <a:t>Oxidation #s of atoms in neutral compounds must add up to 0(neutral compounds have no charge)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" sz="2500"/>
              <a:t>Sum of the oxidation #s of atoms inside ions made with atoms must be equal to the charge on said ion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These rules can turn a chemical equation into an Algebraic one</a:t>
            </a:r>
            <a:endParaRPr sz="2500"/>
          </a:p>
        </p:txBody>
      </p:sp>
      <p:sp>
        <p:nvSpPr>
          <p:cNvPr id="115" name="Google Shape;115;p18"/>
          <p:cNvSpPr txBox="1"/>
          <p:nvPr>
            <p:ph type="title"/>
          </p:nvPr>
        </p:nvSpPr>
        <p:spPr>
          <a:xfrm>
            <a:off x="0" y="-119775"/>
            <a:ext cx="9144000" cy="11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Rules for Oxidation Numbers </a:t>
            </a:r>
            <a:r>
              <a:rPr lang="en" sz="1900"/>
              <a:t>(part 2)</a:t>
            </a:r>
            <a:endParaRPr sz="100"/>
          </a:p>
        </p:txBody>
      </p:sp>
      <p:pic>
        <p:nvPicPr>
          <p:cNvPr id="116" name="Google Shape;11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9298" y="865525"/>
            <a:ext cx="1592977" cy="14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8"/>
          <p:cNvSpPr txBox="1"/>
          <p:nvPr/>
        </p:nvSpPr>
        <p:spPr>
          <a:xfrm>
            <a:off x="7599025" y="789450"/>
            <a:ext cx="1567500" cy="14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1"/>
                </a:highlight>
              </a:rPr>
              <a:t>Lovius </a:t>
            </a:r>
            <a:r>
              <a:rPr lang="en" sz="1000">
                <a:highlight>
                  <a:schemeClr val="dk1"/>
                </a:highlight>
              </a:rPr>
              <a:t>dobivius</a:t>
            </a:r>
            <a:r>
              <a:rPr lang="en" sz="1000">
                <a:highlight>
                  <a:schemeClr val="dk1"/>
                </a:highlight>
              </a:rPr>
              <a:t> these rules are very </a:t>
            </a:r>
            <a:r>
              <a:rPr lang="en" sz="1000">
                <a:highlight>
                  <a:schemeClr val="dk1"/>
                </a:highlight>
              </a:rPr>
              <a:t>obvious</a:t>
            </a:r>
            <a:endParaRPr sz="1000"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idx="1" type="body"/>
          </p:nvPr>
        </p:nvSpPr>
        <p:spPr>
          <a:xfrm>
            <a:off x="0" y="1385150"/>
            <a:ext cx="9144000" cy="375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# of electrons freed during oxidation must equal # of electrons added during reduction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" sz="2500"/>
              <a:t>Redox reaction equation use Half reaction, which shows the Oxidation and Reduction in two equations</a:t>
            </a:r>
            <a:endParaRPr sz="2500"/>
          </a:p>
          <a:p>
            <a:pPr indent="-387350" lvl="2" marL="1371600" rtl="0" algn="l">
              <a:spcBef>
                <a:spcPts val="0"/>
              </a:spcBef>
              <a:spcAft>
                <a:spcPts val="0"/>
              </a:spcAft>
              <a:buSzPts val="2500"/>
              <a:buChar char="■"/>
            </a:pPr>
            <a:r>
              <a:rPr lang="en" sz="2500"/>
              <a:t>Half </a:t>
            </a:r>
            <a:r>
              <a:rPr lang="en" sz="2500"/>
              <a:t>reaction</a:t>
            </a:r>
            <a:r>
              <a:rPr lang="en" sz="2500"/>
              <a:t> of Cu + 2Ag</a:t>
            </a:r>
            <a:r>
              <a:rPr baseline="30000" lang="en" sz="2500"/>
              <a:t>+</a:t>
            </a:r>
            <a:r>
              <a:rPr lang="en" sz="2500"/>
              <a:t>→ Cu</a:t>
            </a:r>
            <a:r>
              <a:rPr baseline="30000" lang="en" sz="2500"/>
              <a:t>2+</a:t>
            </a:r>
            <a:r>
              <a:rPr lang="en" sz="2500"/>
              <a:t> + 2Ag:</a:t>
            </a:r>
            <a:endParaRPr sz="2500"/>
          </a:p>
          <a:p>
            <a:pPr indent="-387350" lvl="3" marL="18288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1. Cu → Cu</a:t>
            </a:r>
            <a:r>
              <a:rPr baseline="30000" lang="en" sz="2500"/>
              <a:t>2+</a:t>
            </a:r>
            <a:r>
              <a:rPr lang="en" sz="2500"/>
              <a:t> +2e</a:t>
            </a:r>
            <a:r>
              <a:rPr baseline="30000" lang="en" sz="2500"/>
              <a:t>–</a:t>
            </a:r>
            <a:endParaRPr baseline="30000" sz="2500"/>
          </a:p>
          <a:p>
            <a:pPr indent="-387350" lvl="3" marL="18288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2. </a:t>
            </a:r>
            <a:r>
              <a:rPr lang="en" sz="2500"/>
              <a:t>2Ag</a:t>
            </a:r>
            <a:r>
              <a:rPr baseline="30000" lang="en" sz="2500"/>
              <a:t>+</a:t>
            </a:r>
            <a:r>
              <a:rPr lang="en" sz="2500"/>
              <a:t> 2e</a:t>
            </a:r>
            <a:r>
              <a:rPr baseline="30000" lang="en" sz="2500"/>
              <a:t>–</a:t>
            </a:r>
            <a:r>
              <a:rPr lang="en" sz="2500"/>
              <a:t>→2Ag</a:t>
            </a:r>
            <a:endParaRPr sz="2500"/>
          </a:p>
        </p:txBody>
      </p:sp>
      <p:sp>
        <p:nvSpPr>
          <p:cNvPr id="123" name="Google Shape;123;p19"/>
          <p:cNvSpPr txBox="1"/>
          <p:nvPr>
            <p:ph type="title"/>
          </p:nvPr>
        </p:nvSpPr>
        <p:spPr>
          <a:xfrm>
            <a:off x="-72650" y="-119775"/>
            <a:ext cx="9216600" cy="15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The Role of the Electron in Oxidation-Reduction</a:t>
            </a:r>
            <a:endParaRPr sz="5000"/>
          </a:p>
        </p:txBody>
      </p:sp>
      <p:pic>
        <p:nvPicPr>
          <p:cNvPr descr="Image result for perfectly in balance meme" id="124" name="Google Shape;12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8450" y="3301100"/>
            <a:ext cx="2145500" cy="1842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9"/>
          <p:cNvSpPr txBox="1"/>
          <p:nvPr/>
        </p:nvSpPr>
        <p:spPr>
          <a:xfrm rot="1484709">
            <a:off x="7298201" y="3673533"/>
            <a:ext cx="1520846" cy="23733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CU+2Ag</a:t>
            </a:r>
            <a:r>
              <a:rPr baseline="30000" lang="en" sz="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+</a:t>
            </a:r>
            <a:r>
              <a:rPr lang="en" sz="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                              Cu</a:t>
            </a:r>
            <a:r>
              <a:rPr baseline="30000" lang="en" sz="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2+</a:t>
            </a:r>
            <a:r>
              <a:rPr lang="en" sz="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+ 2Ag</a:t>
            </a:r>
            <a:endParaRPr sz="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idx="1" type="body"/>
          </p:nvPr>
        </p:nvSpPr>
        <p:spPr>
          <a:xfrm>
            <a:off x="0" y="1385150"/>
            <a:ext cx="9144000" cy="375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Electrochemistry the study of chemical processes that cause electricity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" sz="2500"/>
              <a:t>Chrome plating is used for reflective </a:t>
            </a:r>
            <a:r>
              <a:rPr lang="en" sz="2500"/>
              <a:t>surfaces</a:t>
            </a:r>
            <a:r>
              <a:rPr lang="en" sz="2500"/>
              <a:t> on cars and appliances</a:t>
            </a:r>
            <a:endParaRPr sz="2500"/>
          </a:p>
        </p:txBody>
      </p:sp>
      <p:sp>
        <p:nvSpPr>
          <p:cNvPr id="131" name="Google Shape;131;p20"/>
          <p:cNvSpPr txBox="1"/>
          <p:nvPr>
            <p:ph type="title"/>
          </p:nvPr>
        </p:nvSpPr>
        <p:spPr>
          <a:xfrm>
            <a:off x="-72650" y="-119775"/>
            <a:ext cx="9216600" cy="15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ELECTROCHEMISTRY</a:t>
            </a:r>
            <a:endParaRPr sz="5000"/>
          </a:p>
        </p:txBody>
      </p:sp>
      <p:pic>
        <p:nvPicPr>
          <p:cNvPr id="132" name="Google Shape;13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7150" y="2692825"/>
            <a:ext cx="2247600" cy="245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type="title"/>
          </p:nvPr>
        </p:nvSpPr>
        <p:spPr>
          <a:xfrm>
            <a:off x="-72650" y="-119775"/>
            <a:ext cx="9216600" cy="15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Cell potentials</a:t>
            </a:r>
            <a:endParaRPr sz="5000"/>
          </a:p>
        </p:txBody>
      </p:sp>
      <p:pic>
        <p:nvPicPr>
          <p:cNvPr descr="LEGO Ninjago NRG True Potential Ninjas Collection - BrickQueen - YouTube" id="138" name="Google Shape;138;p21"/>
          <p:cNvPicPr preferRelativeResize="0"/>
          <p:nvPr/>
        </p:nvPicPr>
        <p:blipFill rotWithShape="1">
          <a:blip r:embed="rId3">
            <a:alphaModFix/>
          </a:blip>
          <a:srcRect b="0" l="0" r="0" t="32194"/>
          <a:stretch/>
        </p:blipFill>
        <p:spPr>
          <a:xfrm>
            <a:off x="5313000" y="0"/>
            <a:ext cx="2958880" cy="11302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1"/>
          <p:cNvSpPr txBox="1"/>
          <p:nvPr>
            <p:ph idx="1" type="body"/>
          </p:nvPr>
        </p:nvSpPr>
        <p:spPr>
          <a:xfrm>
            <a:off x="-116225" y="619925"/>
            <a:ext cx="9420000" cy="42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Volts: How much an electron wants to get away/join an atom/Ion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" sz="2500"/>
              <a:t>Cell potential: potential energy for a redox reaction(measured in Volts)</a:t>
            </a:r>
            <a:endParaRPr sz="2500"/>
          </a:p>
          <a:p>
            <a:pPr indent="-387350" lvl="2" marL="1371600" rtl="0" algn="l">
              <a:spcBef>
                <a:spcPts val="0"/>
              </a:spcBef>
              <a:spcAft>
                <a:spcPts val="0"/>
              </a:spcAft>
              <a:buSzPts val="2500"/>
              <a:buChar char="■"/>
            </a:pPr>
            <a:r>
              <a:rPr lang="en" sz="2500"/>
              <a:t>Batteries has cell potential</a:t>
            </a:r>
            <a:endParaRPr sz="2500"/>
          </a:p>
          <a:p>
            <a:pPr indent="-387350" lvl="2" marL="1371600" rtl="0" algn="l">
              <a:spcBef>
                <a:spcPts val="0"/>
              </a:spcBef>
              <a:spcAft>
                <a:spcPts val="0"/>
              </a:spcAft>
              <a:buSzPts val="2500"/>
              <a:buChar char="■"/>
            </a:pPr>
            <a:r>
              <a:rPr lang="en" sz="2500"/>
              <a:t>When all of the reaction in a cell potential has been done, there is no more potential energy left</a:t>
            </a:r>
            <a:endParaRPr sz="2500"/>
          </a:p>
          <a:p>
            <a:pPr indent="-387350" lvl="2" marL="1371600" rtl="0" algn="l">
              <a:spcBef>
                <a:spcPts val="0"/>
              </a:spcBef>
              <a:spcAft>
                <a:spcPts val="0"/>
              </a:spcAft>
              <a:buSzPts val="2500"/>
              <a:buChar char="■"/>
            </a:pPr>
            <a:r>
              <a:rPr lang="en" sz="2500"/>
              <a:t>Each half reaction can be assigned a potential</a:t>
            </a:r>
            <a:endParaRPr sz="2500"/>
          </a:p>
          <a:p>
            <a:pPr indent="-387350" lvl="2" marL="1371600" rtl="0" algn="l">
              <a:spcBef>
                <a:spcPts val="0"/>
              </a:spcBef>
              <a:spcAft>
                <a:spcPts val="0"/>
              </a:spcAft>
              <a:buSzPts val="2500"/>
              <a:buChar char="■"/>
            </a:pPr>
            <a:r>
              <a:rPr lang="en" sz="2500"/>
              <a:t>Standard half-cell potentials are measured relative to 2H</a:t>
            </a:r>
            <a:r>
              <a:rPr baseline="30000" lang="en" sz="2500"/>
              <a:t>+</a:t>
            </a:r>
            <a:r>
              <a:rPr lang="en" sz="2500"/>
              <a:t>+ 2e</a:t>
            </a:r>
            <a:r>
              <a:rPr baseline="30000" lang="en" sz="2500"/>
              <a:t>–</a:t>
            </a:r>
            <a:r>
              <a:rPr lang="en" sz="2500"/>
              <a:t>→ H</a:t>
            </a:r>
            <a:r>
              <a:rPr baseline="-25000" lang="en" sz="2500"/>
              <a:t>2</a:t>
            </a:r>
            <a:endParaRPr baseline="-25000" sz="2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idx="1" type="body"/>
          </p:nvPr>
        </p:nvSpPr>
        <p:spPr>
          <a:xfrm>
            <a:off x="0" y="1385150"/>
            <a:ext cx="9144000" cy="375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Oxidation is just the reverse of reduction, so sign of the volts are opposites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" sz="2500"/>
              <a:t>if the oxidation reaction is Cu → Cu</a:t>
            </a:r>
            <a:r>
              <a:rPr baseline="30000" lang="en" sz="2500"/>
              <a:t>2+</a:t>
            </a:r>
            <a:r>
              <a:rPr lang="en" sz="2500"/>
              <a:t> + 2e</a:t>
            </a:r>
            <a:r>
              <a:rPr baseline="30000" lang="en" sz="2500"/>
              <a:t>–</a:t>
            </a:r>
            <a:r>
              <a:rPr lang="en" sz="2500"/>
              <a:t>, then the </a:t>
            </a:r>
            <a:r>
              <a:rPr lang="en" sz="2500"/>
              <a:t>standard oxidation potential</a:t>
            </a:r>
            <a:r>
              <a:rPr lang="en" sz="2500"/>
              <a:t> of the half-cell is –0.34V(Volts)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Half-cell potentials are combined to provide information on a complete reaction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" sz="2500"/>
              <a:t>E</a:t>
            </a:r>
            <a:r>
              <a:rPr baseline="30000" lang="en" sz="2500"/>
              <a:t>o</a:t>
            </a:r>
            <a:r>
              <a:rPr baseline="-25000" lang="en" sz="2500"/>
              <a:t>red</a:t>
            </a:r>
            <a:r>
              <a:rPr lang="en" sz="2500"/>
              <a:t> – E</a:t>
            </a:r>
            <a:r>
              <a:rPr baseline="30000" lang="en" sz="2500"/>
              <a:t>o</a:t>
            </a:r>
            <a:r>
              <a:rPr baseline="-25000" lang="en" sz="2500"/>
              <a:t>ox</a:t>
            </a:r>
            <a:endParaRPr sz="2500"/>
          </a:p>
        </p:txBody>
      </p:sp>
      <p:sp>
        <p:nvSpPr>
          <p:cNvPr id="145" name="Google Shape;145;p22"/>
          <p:cNvSpPr txBox="1"/>
          <p:nvPr>
            <p:ph type="title"/>
          </p:nvPr>
        </p:nvSpPr>
        <p:spPr>
          <a:xfrm>
            <a:off x="-72650" y="-119775"/>
            <a:ext cx="9216600" cy="15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Explanation of Cell potentials</a:t>
            </a:r>
            <a:endParaRPr sz="5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/>
          <p:nvPr>
            <p:ph idx="1" type="body"/>
          </p:nvPr>
        </p:nvSpPr>
        <p:spPr>
          <a:xfrm>
            <a:off x="0" y="736075"/>
            <a:ext cx="9144000" cy="440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For the reaction Cu + 2Ag</a:t>
            </a:r>
            <a:r>
              <a:rPr baseline="30000" lang="en" sz="2500"/>
              <a:t>+</a:t>
            </a:r>
            <a:r>
              <a:rPr lang="en" sz="2500"/>
              <a:t>→ Cu</a:t>
            </a:r>
            <a:r>
              <a:rPr baseline="30000" lang="en" sz="2500"/>
              <a:t>2+</a:t>
            </a:r>
            <a:r>
              <a:rPr lang="en" sz="2500"/>
              <a:t> + 2Ag, voltage of the reaction is determined by first identifying the potential of each half reaction: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Cu → Cu2</a:t>
            </a:r>
            <a:r>
              <a:rPr baseline="30000" lang="en" sz="2500"/>
              <a:t>+</a:t>
            </a:r>
            <a:r>
              <a:rPr lang="en" sz="2500"/>
              <a:t> +2e</a:t>
            </a:r>
            <a:r>
              <a:rPr baseline="30000" lang="en" sz="2500"/>
              <a:t>– </a:t>
            </a:r>
            <a:r>
              <a:rPr lang="en" sz="2500"/>
              <a:t>E</a:t>
            </a:r>
            <a:r>
              <a:rPr baseline="30000" lang="en" sz="2500"/>
              <a:t>0</a:t>
            </a:r>
            <a:r>
              <a:rPr lang="en" sz="2500"/>
              <a:t>= –0.34 V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Ag</a:t>
            </a:r>
            <a:r>
              <a:rPr baseline="30000" lang="en" sz="2500"/>
              <a:t>+</a:t>
            </a:r>
            <a:r>
              <a:rPr lang="en" sz="2500"/>
              <a:t>+ 1e</a:t>
            </a:r>
            <a:r>
              <a:rPr baseline="30000" lang="en" sz="2500"/>
              <a:t>–</a:t>
            </a:r>
            <a:r>
              <a:rPr lang="en" sz="2500"/>
              <a:t>→ Ag E</a:t>
            </a:r>
            <a:r>
              <a:rPr baseline="30000" lang="en" sz="2500"/>
              <a:t>0</a:t>
            </a:r>
            <a:r>
              <a:rPr lang="en" sz="2500"/>
              <a:t>=+0.80 V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" sz="2500"/>
              <a:t>Sign of the Cu half-reaction voltage was changed since it was the oxidizing half-reaction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Add the voltage of both half reactions to get the voltage of the redox reaction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" sz="2500"/>
              <a:t>-0.34V+0.80V=0.46V(spontaneous occurring)</a:t>
            </a:r>
            <a:endParaRPr sz="2500"/>
          </a:p>
        </p:txBody>
      </p:sp>
      <p:sp>
        <p:nvSpPr>
          <p:cNvPr id="151" name="Google Shape;151;p23"/>
          <p:cNvSpPr txBox="1"/>
          <p:nvPr>
            <p:ph type="title"/>
          </p:nvPr>
        </p:nvSpPr>
        <p:spPr>
          <a:xfrm>
            <a:off x="-72600" y="-124625"/>
            <a:ext cx="9216600" cy="8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Example of Cell potentials</a:t>
            </a:r>
            <a:endParaRPr sz="2300"/>
          </a:p>
        </p:txBody>
      </p:sp>
      <p:pic>
        <p:nvPicPr>
          <p:cNvPr descr="Image result for stonks" id="152" name="Google Shape;15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6875" y="1675750"/>
            <a:ext cx="2483925" cy="139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 txBox="1"/>
          <p:nvPr>
            <p:ph idx="1" type="body"/>
          </p:nvPr>
        </p:nvSpPr>
        <p:spPr>
          <a:xfrm>
            <a:off x="0" y="736075"/>
            <a:ext cx="9100500" cy="440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Spontaneously </a:t>
            </a:r>
            <a:r>
              <a:rPr lang="en" sz="2500"/>
              <a:t>occurring</a:t>
            </a:r>
            <a:r>
              <a:rPr lang="en" sz="2500"/>
              <a:t>: found often in nature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Non-spontaneously occurring: not found often in nature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" sz="2500"/>
              <a:t>Li</a:t>
            </a:r>
            <a:r>
              <a:rPr baseline="30000" lang="en" sz="2500"/>
              <a:t>+</a:t>
            </a:r>
            <a:r>
              <a:rPr lang="en" sz="2500"/>
              <a:t>+ Fe</a:t>
            </a:r>
            <a:r>
              <a:rPr baseline="30000" lang="en" sz="2500"/>
              <a:t>3+</a:t>
            </a:r>
            <a:r>
              <a:rPr lang="en" sz="2500"/>
              <a:t>→ Li + Fe</a:t>
            </a:r>
            <a:r>
              <a:rPr baseline="30000" lang="en" sz="2500"/>
              <a:t>2+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" sz="2500"/>
              <a:t>The two half-reactions are as follows:</a:t>
            </a:r>
            <a:endParaRPr sz="2500"/>
          </a:p>
          <a:p>
            <a:pPr indent="-387350" lvl="2" marL="1371600" rtl="0" algn="l">
              <a:spcBef>
                <a:spcPts val="0"/>
              </a:spcBef>
              <a:spcAft>
                <a:spcPts val="0"/>
              </a:spcAft>
              <a:buSzPts val="2500"/>
              <a:buChar char="■"/>
            </a:pPr>
            <a:r>
              <a:rPr lang="en" sz="2500"/>
              <a:t>Li</a:t>
            </a:r>
            <a:r>
              <a:rPr baseline="30000" lang="en" sz="2500"/>
              <a:t>+</a:t>
            </a:r>
            <a:r>
              <a:rPr lang="en" sz="2500"/>
              <a:t>+ e</a:t>
            </a:r>
            <a:r>
              <a:rPr baseline="30000" lang="en" sz="2500"/>
              <a:t>–</a:t>
            </a:r>
            <a:r>
              <a:rPr lang="en" sz="2500"/>
              <a:t>→ Li E° = –3.05 V</a:t>
            </a:r>
            <a:endParaRPr sz="2500"/>
          </a:p>
          <a:p>
            <a:pPr indent="-387350" lvl="2" marL="1371600" rtl="0" algn="l">
              <a:spcBef>
                <a:spcPts val="0"/>
              </a:spcBef>
              <a:spcAft>
                <a:spcPts val="0"/>
              </a:spcAft>
              <a:buSzPts val="2500"/>
              <a:buChar char="■"/>
            </a:pPr>
            <a:r>
              <a:rPr lang="en" sz="2500"/>
              <a:t>Fe</a:t>
            </a:r>
            <a:r>
              <a:rPr baseline="30000" lang="en" sz="2500"/>
              <a:t>2+</a:t>
            </a:r>
            <a:r>
              <a:rPr lang="en" sz="2500"/>
              <a:t> → Fe</a:t>
            </a:r>
            <a:r>
              <a:rPr baseline="30000" lang="en" sz="2500"/>
              <a:t>3+</a:t>
            </a:r>
            <a:r>
              <a:rPr lang="en" sz="2500"/>
              <a:t> + e</a:t>
            </a:r>
            <a:r>
              <a:rPr baseline="30000" lang="en" sz="2500"/>
              <a:t>–</a:t>
            </a:r>
            <a:r>
              <a:rPr lang="en" sz="2500"/>
              <a:t> E° = –0.77 V</a:t>
            </a:r>
            <a:endParaRPr sz="2500"/>
          </a:p>
          <a:p>
            <a:pPr indent="-387350" lvl="3" marL="18288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Of course, the final result is a negative number (because -n-m is negative)</a:t>
            </a:r>
            <a:endParaRPr sz="2500"/>
          </a:p>
          <a:p>
            <a:pPr indent="-387350" lvl="2" marL="1371600" rtl="0" algn="l">
              <a:spcBef>
                <a:spcPts val="0"/>
              </a:spcBef>
              <a:spcAft>
                <a:spcPts val="0"/>
              </a:spcAft>
              <a:buSzPts val="2500"/>
              <a:buChar char="■"/>
            </a:pPr>
            <a:r>
              <a:rPr lang="en" sz="2500"/>
              <a:t>This reaction happens naturally in reverse, so the result would be positive</a:t>
            </a:r>
            <a:endParaRPr sz="2500"/>
          </a:p>
        </p:txBody>
      </p:sp>
      <p:sp>
        <p:nvSpPr>
          <p:cNvPr id="158" name="Google Shape;158;p24"/>
          <p:cNvSpPr txBox="1"/>
          <p:nvPr>
            <p:ph type="title"/>
          </p:nvPr>
        </p:nvSpPr>
        <p:spPr>
          <a:xfrm>
            <a:off x="-116200" y="-124625"/>
            <a:ext cx="9216600" cy="8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Example of Cell potentials</a:t>
            </a:r>
            <a:r>
              <a:rPr lang="en" sz="1900"/>
              <a:t>(part 2)</a:t>
            </a:r>
            <a:endParaRPr sz="1900"/>
          </a:p>
        </p:txBody>
      </p:sp>
      <p:pic>
        <p:nvPicPr>
          <p:cNvPr descr="Image result for stonks" id="159" name="Google Shape;15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0275" y="1699975"/>
            <a:ext cx="2973725" cy="178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"/>
          <p:cNvSpPr txBox="1"/>
          <p:nvPr>
            <p:ph type="title"/>
          </p:nvPr>
        </p:nvSpPr>
        <p:spPr>
          <a:xfrm>
            <a:off x="329350" y="0"/>
            <a:ext cx="8712900" cy="44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0"/>
              <a:t>Thank You!</a:t>
            </a:r>
            <a:endParaRPr sz="15000"/>
          </a:p>
        </p:txBody>
      </p:sp>
      <p:pic>
        <p:nvPicPr>
          <p:cNvPr descr="Goose Dancing Goose GIF - Goose Dancing Goose Fast Goose Default Dance GIFs" id="165" name="Google Shape;165;p25"/>
          <p:cNvPicPr preferRelativeResize="0"/>
          <p:nvPr/>
        </p:nvPicPr>
        <p:blipFill rotWithShape="1">
          <a:blip r:embed="rId3">
            <a:alphaModFix/>
          </a:blip>
          <a:srcRect b="-469" l="0" r="0" t="11957"/>
          <a:stretch/>
        </p:blipFill>
        <p:spPr>
          <a:xfrm>
            <a:off x="5307850" y="1956650"/>
            <a:ext cx="3297674" cy="321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lue &amp; Gold">
  <a:themeElements>
    <a:clrScheme name="Blue &amp; Gold">
      <a:dk1>
        <a:srgbClr val="FFFFFF"/>
      </a:dk1>
      <a:lt1>
        <a:srgbClr val="01AFD1"/>
      </a:lt1>
      <a:dk2>
        <a:srgbClr val="1E2D31"/>
      </a:dk2>
      <a:lt2>
        <a:srgbClr val="BFC7CA"/>
      </a:lt2>
      <a:accent1>
        <a:srgbClr val="0095B3"/>
      </a:accent1>
      <a:accent2>
        <a:srgbClr val="AF4345"/>
      </a:accent2>
      <a:accent3>
        <a:srgbClr val="47D06A"/>
      </a:accent3>
      <a:accent4>
        <a:srgbClr val="F58F8F"/>
      </a:accent4>
      <a:accent5>
        <a:srgbClr val="FFFC79"/>
      </a:accent5>
      <a:accent6>
        <a:srgbClr val="F8E71C"/>
      </a:accent6>
      <a:hlink>
        <a:srgbClr val="F6CD4C"/>
      </a:hlink>
      <a:folHlink>
        <a:srgbClr val="F6CD4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
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Slab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167a4865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a167a4865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67a486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167a486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167a4865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167a4865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19c48836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a19c4883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19c48836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19c48836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57800" y="556050"/>
            <a:ext cx="76284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Browser Wars - The Dot-com Bubble (67-70)</a:t>
            </a:r>
            <a:endParaRPr sz="8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503400" y="943075"/>
            <a:ext cx="81372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b="1" lang="en" sz="2300">
                <a:solidFill>
                  <a:schemeClr val="accent6"/>
                </a:solidFill>
              </a:rPr>
              <a:t>1991-1992:</a:t>
            </a:r>
            <a:r>
              <a:rPr lang="en" sz="2300">
                <a:solidFill>
                  <a:schemeClr val="accent6"/>
                </a:solidFill>
              </a:rPr>
              <a:t> More areas set up web servers; Web browsers were also made [mainly </a:t>
            </a:r>
            <a:r>
              <a:rPr lang="en" sz="2300">
                <a:solidFill>
                  <a:schemeClr val="accent6"/>
                </a:solidFill>
              </a:rPr>
              <a:t>universities</a:t>
            </a:r>
            <a:r>
              <a:rPr lang="en" sz="2300">
                <a:solidFill>
                  <a:schemeClr val="accent6"/>
                </a:solidFill>
              </a:rPr>
              <a:t>]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World Wide Web was academic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>
                <a:solidFill>
                  <a:schemeClr val="accent6"/>
                </a:solidFill>
              </a:rPr>
              <a:t>Browsers were text based [not easy to use]</a:t>
            </a:r>
            <a:endParaRPr sz="2300">
              <a:solidFill>
                <a:schemeClr val="accent6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■"/>
            </a:pPr>
            <a:r>
              <a:rPr lang="en" sz="2300">
                <a:solidFill>
                  <a:schemeClr val="accent6"/>
                </a:solidFill>
              </a:rPr>
              <a:t>Text&gt;pictures</a:t>
            </a:r>
            <a:endParaRPr sz="2300">
              <a:solidFill>
                <a:schemeClr val="accent6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■"/>
            </a:pPr>
            <a:r>
              <a:rPr lang="en" sz="2300">
                <a:solidFill>
                  <a:schemeClr val="accent6"/>
                </a:solidFill>
              </a:rPr>
              <a:t>keyboard&gt; mouse</a:t>
            </a:r>
            <a:endParaRPr sz="2300">
              <a:solidFill>
                <a:schemeClr val="accent6"/>
              </a:solidFill>
            </a:endParaRPr>
          </a:p>
        </p:txBody>
      </p:sp>
      <p:pic>
        <p:nvPicPr>
          <p:cNvPr descr="Facts About Mice"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550" y="2639076"/>
            <a:ext cx="2316225" cy="23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latin typeface="Georgia"/>
                <a:ea typeface="Georgia"/>
                <a:cs typeface="Georgia"/>
                <a:sym typeface="Georgia"/>
              </a:rPr>
              <a:t>BROWSER WARS</a:t>
            </a:r>
            <a:endParaRPr b="1" i="1" sz="43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4"/>
          <p:cNvSpPr/>
          <p:nvPr/>
        </p:nvSpPr>
        <p:spPr>
          <a:xfrm rot="2611150">
            <a:off x="4789526" y="3629370"/>
            <a:ext cx="1502184" cy="2682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4"/>
          <p:cNvSpPr/>
          <p:nvPr/>
        </p:nvSpPr>
        <p:spPr>
          <a:xfrm rot="-2678153">
            <a:off x="4789758" y="3629323"/>
            <a:ext cx="1502137" cy="2681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503400" y="943075"/>
            <a:ext cx="81372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b="1" lang="en" sz="2300">
                <a:solidFill>
                  <a:schemeClr val="accent6"/>
                </a:solidFill>
              </a:rPr>
              <a:t>1992-1993:</a:t>
            </a:r>
            <a:r>
              <a:rPr lang="en" sz="2300">
                <a:solidFill>
                  <a:schemeClr val="accent6"/>
                </a:solidFill>
              </a:rPr>
              <a:t> </a:t>
            </a:r>
            <a:r>
              <a:rPr lang="en" sz="2300" u="sng">
                <a:solidFill>
                  <a:schemeClr val="accent6"/>
                </a:solidFill>
              </a:rPr>
              <a:t>Marc Andreesen</a:t>
            </a:r>
            <a:r>
              <a:rPr lang="en" sz="2300">
                <a:solidFill>
                  <a:schemeClr val="accent6"/>
                </a:solidFill>
              </a:rPr>
              <a:t> &amp; </a:t>
            </a:r>
            <a:r>
              <a:rPr lang="en" sz="2300" u="sng">
                <a:solidFill>
                  <a:schemeClr val="accent6"/>
                </a:solidFill>
              </a:rPr>
              <a:t>Eric Bina</a:t>
            </a:r>
            <a:r>
              <a:rPr lang="en" sz="2300">
                <a:solidFill>
                  <a:schemeClr val="accent6"/>
                </a:solidFill>
              </a:rPr>
              <a:t> made </a:t>
            </a:r>
            <a:r>
              <a:rPr lang="en" sz="2300" u="sng">
                <a:solidFill>
                  <a:schemeClr val="accent6"/>
                </a:solidFill>
              </a:rPr>
              <a:t>Mosaic</a:t>
            </a:r>
            <a:r>
              <a:rPr lang="en" sz="2300">
                <a:solidFill>
                  <a:schemeClr val="accent6"/>
                </a:solidFill>
              </a:rPr>
              <a:t>[National Center for Supercomputing Applications, University of Illinois]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>
                <a:solidFill>
                  <a:schemeClr val="accent6"/>
                </a:solidFill>
              </a:rPr>
              <a:t>Mosaic was better &amp; easier than earlier browsers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b="1" lang="en" sz="2300">
                <a:solidFill>
                  <a:schemeClr val="accent6"/>
                </a:solidFill>
              </a:rPr>
              <a:t>1994:</a:t>
            </a:r>
            <a:r>
              <a:rPr lang="en" sz="2300">
                <a:solidFill>
                  <a:schemeClr val="accent6"/>
                </a:solidFill>
              </a:rPr>
              <a:t> </a:t>
            </a:r>
            <a:r>
              <a:rPr lang="en" sz="2300" u="sng">
                <a:solidFill>
                  <a:schemeClr val="accent6"/>
                </a:solidFill>
              </a:rPr>
              <a:t>Jim Clark</a:t>
            </a:r>
            <a:r>
              <a:rPr lang="en" sz="2300">
                <a:solidFill>
                  <a:schemeClr val="accent6"/>
                </a:solidFill>
              </a:rPr>
              <a:t> proposed that Andreesen &amp; Bina form a business, UoI objected bc they said Mosaic belonged to them</a:t>
            </a:r>
            <a:endParaRPr sz="2300">
              <a:solidFill>
                <a:schemeClr val="accent6"/>
              </a:solidFill>
            </a:endParaRPr>
          </a:p>
        </p:txBody>
      </p:sp>
      <p:sp>
        <p:nvSpPr>
          <p:cNvPr id="106" name="Google Shape;106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latin typeface="Georgia"/>
                <a:ea typeface="Georgia"/>
                <a:cs typeface="Georgia"/>
                <a:sym typeface="Georgia"/>
              </a:rPr>
              <a:t>Mosaic</a:t>
            </a:r>
            <a:endParaRPr b="1" i="1" sz="43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NCSA Mosaic™ - NCSA" id="107" name="Google Shape;10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6200" y="109200"/>
            <a:ext cx="1772625" cy="13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1557500" y="998800"/>
            <a:ext cx="7394100" cy="398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Andreesen &amp; Bina founded Netscape Communications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b="1" lang="en" sz="2300">
                <a:solidFill>
                  <a:schemeClr val="accent6"/>
                </a:solidFill>
              </a:rPr>
              <a:t>Sep.1994: </a:t>
            </a:r>
            <a:r>
              <a:rPr lang="en" sz="2300">
                <a:solidFill>
                  <a:schemeClr val="accent6"/>
                </a:solidFill>
              </a:rPr>
              <a:t>Made </a:t>
            </a:r>
            <a:r>
              <a:rPr lang="en" sz="2300" u="sng">
                <a:solidFill>
                  <a:schemeClr val="accent6"/>
                </a:solidFill>
              </a:rPr>
              <a:t>Netscape Navigator</a:t>
            </a:r>
            <a:r>
              <a:rPr lang="en" sz="2300">
                <a:solidFill>
                  <a:schemeClr val="accent6"/>
                </a:solidFill>
              </a:rPr>
              <a:t> [F</a:t>
            </a:r>
            <a:r>
              <a:rPr lang="en" sz="2300">
                <a:solidFill>
                  <a:schemeClr val="accent6"/>
                </a:solidFill>
              </a:rPr>
              <a:t>ree for user, but corporations are charged a license fee]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MS were making Windows 95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>
                <a:solidFill>
                  <a:schemeClr val="accent6"/>
                </a:solidFill>
                <a:highlight>
                  <a:schemeClr val="lt1"/>
                </a:highlight>
              </a:rPr>
              <a:t>Did not require MS-DOS to be pre-installed</a:t>
            </a:r>
            <a:endParaRPr sz="2300">
              <a:solidFill>
                <a:schemeClr val="accent6"/>
              </a:solidFill>
              <a:highlight>
                <a:schemeClr val="lt1"/>
              </a:highlight>
            </a:endParaRPr>
          </a:p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97875" y="131500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latin typeface="Georgia"/>
                <a:ea typeface="Georgia"/>
                <a:cs typeface="Georgia"/>
                <a:sym typeface="Georgia"/>
              </a:rPr>
              <a:t>Netscape</a:t>
            </a:r>
            <a:r>
              <a:rPr lang="en" sz="400">
                <a:latin typeface="Georgia"/>
                <a:ea typeface="Georgia"/>
                <a:cs typeface="Georgia"/>
                <a:sym typeface="Georgia"/>
              </a:rPr>
              <a:t>(Microsoft is here also)</a:t>
            </a:r>
            <a:endParaRPr sz="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Netscape Born - This Day in Tech History" id="114" name="Google Shape;114;p16"/>
          <p:cNvPicPr preferRelativeResize="0"/>
          <p:nvPr/>
        </p:nvPicPr>
        <p:blipFill rotWithShape="1">
          <a:blip r:embed="rId3">
            <a:alphaModFix/>
          </a:blip>
          <a:srcRect b="4227" l="3694" r="4173" t="4854"/>
          <a:stretch/>
        </p:blipFill>
        <p:spPr>
          <a:xfrm>
            <a:off x="42250" y="1409725"/>
            <a:ext cx="1515250" cy="14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Windows 95 stacked logo.svg - Wikimedia Commons" id="115" name="Google Shape;11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0734" y="551650"/>
            <a:ext cx="1905666" cy="12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</a:t>
            </a:r>
            <a:r>
              <a:rPr b="1" lang="en"/>
              <a:t>nd of 1994:</a:t>
            </a:r>
            <a:r>
              <a:rPr lang="en"/>
              <a:t> there were 10K web servers online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Jun. 1995:</a:t>
            </a:r>
            <a:r>
              <a:rPr lang="en"/>
              <a:t> there were more than 20K web servers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End of 1995:</a:t>
            </a:r>
            <a:r>
              <a:rPr lang="en"/>
              <a:t> Netscape Navigator had 15M downloaded</a:t>
            </a:r>
            <a:endParaRPr/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265500" y="1427550"/>
            <a:ext cx="4045200" cy="22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of Netscape Navigator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172925" y="998800"/>
            <a:ext cx="8778600" cy="398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Microsoft planned to release online service</a:t>
            </a:r>
            <a:r>
              <a:rPr lang="en" sz="2300">
                <a:solidFill>
                  <a:schemeClr val="accent6"/>
                </a:solidFill>
              </a:rPr>
              <a:t> [non-Web-based]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 u="sng">
                <a:solidFill>
                  <a:schemeClr val="accent6"/>
                </a:solidFill>
              </a:rPr>
              <a:t>Internet Explorer</a:t>
            </a:r>
            <a:r>
              <a:rPr lang="en" sz="2300">
                <a:solidFill>
                  <a:schemeClr val="accent6"/>
                </a:solidFill>
              </a:rPr>
              <a:t>[not as good as Netscape]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Microsoft licensed source code of Mosaic from </a:t>
            </a:r>
            <a:r>
              <a:rPr lang="en" sz="2300" u="sng">
                <a:solidFill>
                  <a:schemeClr val="accent6"/>
                </a:solidFill>
              </a:rPr>
              <a:t>Spyglass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Netscape &amp; Microsoft raced to be best browser[Browser Wars]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>
                <a:solidFill>
                  <a:schemeClr val="accent6"/>
                </a:solidFill>
              </a:rPr>
              <a:t>Both have unique extensions to HTML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b="1" lang="en" sz="2300">
                <a:solidFill>
                  <a:schemeClr val="accent6"/>
                </a:solidFill>
              </a:rPr>
              <a:t>1998:</a:t>
            </a:r>
            <a:r>
              <a:rPr lang="en" sz="2300">
                <a:solidFill>
                  <a:schemeClr val="accent6"/>
                </a:solidFill>
              </a:rPr>
              <a:t> MS tried to implement IE in Windows98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>
                <a:solidFill>
                  <a:schemeClr val="accent6"/>
                </a:solidFill>
              </a:rPr>
              <a:t>Corporations didn’t need to buy IE</a:t>
            </a:r>
            <a:endParaRPr sz="2300">
              <a:solidFill>
                <a:schemeClr val="accent6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■"/>
            </a:pPr>
            <a:r>
              <a:rPr lang="en" sz="2300">
                <a:solidFill>
                  <a:schemeClr val="accent6"/>
                </a:solidFill>
              </a:rPr>
              <a:t>Netscape lost the Browser War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Netscape released code[lead to </a:t>
            </a:r>
            <a:r>
              <a:rPr lang="en" sz="2300">
                <a:solidFill>
                  <a:schemeClr val="accent6"/>
                </a:solidFill>
              </a:rPr>
              <a:t>Mozilla</a:t>
            </a:r>
            <a:r>
              <a:rPr lang="en" sz="2300">
                <a:solidFill>
                  <a:schemeClr val="accent6"/>
                </a:solidFill>
              </a:rPr>
              <a:t>]</a:t>
            </a:r>
            <a:endParaRPr sz="2300">
              <a:solidFill>
                <a:schemeClr val="accent6"/>
              </a:solidFill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7150375" y="2625725"/>
            <a:ext cx="1768500" cy="1240200"/>
          </a:xfrm>
          <a:prstGeom prst="ellipse">
            <a:avLst/>
          </a:prstGeom>
          <a:solidFill>
            <a:srgbClr val="C5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7233899" y="2795375"/>
            <a:ext cx="17175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“Website creators would have</a:t>
            </a:r>
            <a:endParaRPr sz="105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to decide which browser’s extensions to support</a:t>
            </a:r>
            <a:r>
              <a:rPr lang="en" sz="105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”</a:t>
            </a:r>
            <a:endParaRPr sz="105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8"/>
          <p:cNvSpPr txBox="1"/>
          <p:nvPr>
            <p:ph type="title"/>
          </p:nvPr>
        </p:nvSpPr>
        <p:spPr>
          <a:xfrm>
            <a:off x="97875" y="131500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latin typeface="Georgia"/>
                <a:ea typeface="Georgia"/>
                <a:cs typeface="Georgia"/>
                <a:sym typeface="Georgia"/>
              </a:rPr>
              <a:t>Internet Explorer</a:t>
            </a:r>
            <a:endParaRPr sz="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172925" y="998800"/>
            <a:ext cx="8778600" cy="398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Help users find good info[crucial to good web browsers]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 u="sng">
                <a:solidFill>
                  <a:schemeClr val="accent6"/>
                </a:solidFill>
              </a:rPr>
              <a:t>Yahoo</a:t>
            </a:r>
            <a:r>
              <a:rPr lang="en" sz="2300">
                <a:solidFill>
                  <a:schemeClr val="accent6"/>
                </a:solidFill>
              </a:rPr>
              <a:t>[</a:t>
            </a:r>
            <a:r>
              <a:rPr lang="en" sz="2300" u="sng">
                <a:solidFill>
                  <a:schemeClr val="accent6"/>
                </a:solidFill>
              </a:rPr>
              <a:t>Jerry Yang</a:t>
            </a:r>
            <a:r>
              <a:rPr lang="en" sz="2300">
                <a:solidFill>
                  <a:schemeClr val="accent6"/>
                </a:solidFill>
              </a:rPr>
              <a:t> &amp; </a:t>
            </a:r>
            <a:r>
              <a:rPr lang="en" sz="2300" u="sng">
                <a:solidFill>
                  <a:schemeClr val="accent6"/>
                </a:solidFill>
              </a:rPr>
              <a:t>David Filo</a:t>
            </a:r>
            <a:r>
              <a:rPr lang="en" sz="2300">
                <a:solidFill>
                  <a:schemeClr val="accent6"/>
                </a:solidFill>
              </a:rPr>
              <a:t>]</a:t>
            </a:r>
            <a:r>
              <a:rPr b="1" lang="en" sz="2300">
                <a:solidFill>
                  <a:schemeClr val="accent6"/>
                </a:solidFill>
              </a:rPr>
              <a:t>(1993)</a:t>
            </a:r>
            <a:endParaRPr b="1" sz="2300">
              <a:solidFill>
                <a:schemeClr val="accent6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■"/>
            </a:pPr>
            <a:r>
              <a:rPr lang="en" sz="2300">
                <a:solidFill>
                  <a:schemeClr val="accent6"/>
                </a:solidFill>
              </a:rPr>
              <a:t>people made list of good sites[took longer as Web expanded]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 u="sng">
                <a:solidFill>
                  <a:schemeClr val="accent6"/>
                </a:solidFill>
              </a:rPr>
              <a:t>Google</a:t>
            </a:r>
            <a:r>
              <a:rPr lang="en" sz="2300">
                <a:solidFill>
                  <a:schemeClr val="accent6"/>
                </a:solidFill>
              </a:rPr>
              <a:t>[</a:t>
            </a:r>
            <a:r>
              <a:rPr lang="en" sz="2300" u="sng">
                <a:solidFill>
                  <a:schemeClr val="accent6"/>
                </a:solidFill>
              </a:rPr>
              <a:t>Larry Page</a:t>
            </a:r>
            <a:r>
              <a:rPr lang="en" sz="2300">
                <a:solidFill>
                  <a:schemeClr val="accent6"/>
                </a:solidFill>
              </a:rPr>
              <a:t> &amp; </a:t>
            </a:r>
            <a:r>
              <a:rPr lang="en" sz="2300" u="sng">
                <a:solidFill>
                  <a:schemeClr val="accent6"/>
                </a:solidFill>
              </a:rPr>
              <a:t>Sergey Brin</a:t>
            </a:r>
            <a:r>
              <a:rPr lang="en" sz="2300">
                <a:solidFill>
                  <a:schemeClr val="accent6"/>
                </a:solidFill>
              </a:rPr>
              <a:t>]</a:t>
            </a:r>
            <a:r>
              <a:rPr b="1" lang="en" sz="2300">
                <a:solidFill>
                  <a:schemeClr val="accent6"/>
                </a:solidFill>
              </a:rPr>
              <a:t>(1997)</a:t>
            </a:r>
            <a:endParaRPr b="1" sz="2300">
              <a:solidFill>
                <a:schemeClr val="accent6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■"/>
            </a:pPr>
            <a:r>
              <a:rPr lang="en" sz="2300">
                <a:solidFill>
                  <a:schemeClr val="accent6"/>
                </a:solidFill>
              </a:rPr>
              <a:t>Computer program made the list for them</a:t>
            </a:r>
            <a:endParaRPr sz="2300">
              <a:solidFill>
                <a:schemeClr val="accent6"/>
              </a:solidFill>
            </a:endParaRPr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links to other pages = relevant info</a:t>
            </a:r>
            <a:endParaRPr sz="2300">
              <a:solidFill>
                <a:schemeClr val="accent6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■"/>
            </a:pPr>
            <a:r>
              <a:rPr b="1" lang="en" sz="2300">
                <a:solidFill>
                  <a:schemeClr val="accent6"/>
                </a:solidFill>
                <a:highlight>
                  <a:schemeClr val="lt1"/>
                </a:highlight>
              </a:rPr>
              <a:t>2000:</a:t>
            </a:r>
            <a:r>
              <a:rPr lang="en" sz="2300">
                <a:solidFill>
                  <a:schemeClr val="accent6"/>
                </a:solidFill>
                <a:highlight>
                  <a:schemeClr val="lt1"/>
                </a:highlight>
              </a:rPr>
              <a:t> Google placed text ads based on search results</a:t>
            </a:r>
            <a:endParaRPr sz="2300">
              <a:solidFill>
                <a:schemeClr val="accent6"/>
              </a:solidFill>
              <a:highlight>
                <a:schemeClr val="lt1"/>
              </a:highlight>
            </a:endParaRPr>
          </a:p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97875" y="131500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latin typeface="Georgia"/>
                <a:ea typeface="Georgia"/>
                <a:cs typeface="Georgia"/>
                <a:sym typeface="Georgia"/>
              </a:rPr>
              <a:t>Search Engines</a:t>
            </a:r>
            <a:endParaRPr sz="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Yahoo | Mail, Weather, Search, Politics, News, Finance, Sports &amp; Videos"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7125" y="67875"/>
            <a:ext cx="1047775" cy="104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(@Google) / X"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111" y="2414576"/>
            <a:ext cx="1502100" cy="15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275" y="2178275"/>
            <a:ext cx="2861500" cy="286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426685"/>
      </a:dk1>
      <a:lt1>
        <a:srgbClr val="FFFFFF"/>
      </a:lt1>
      <a:dk2>
        <a:srgbClr val="000000"/>
      </a:dk2>
      <a:lt2>
        <a:srgbClr val="C5C5C5"/>
      </a:lt2>
      <a:accent1>
        <a:srgbClr val="5793C7"/>
      </a:accent1>
      <a:accent2>
        <a:srgbClr val="89A0B7"/>
      </a:accent2>
      <a:accent3>
        <a:srgbClr val="7993AC"/>
      </a:accent3>
      <a:accent4>
        <a:srgbClr val="6E95BB"/>
      </a:accent4>
      <a:accent5>
        <a:srgbClr val="406B90"/>
      </a:accent5>
      <a:accent6>
        <a:srgbClr val="3D3D3D"/>
      </a:accent6>
      <a:hlink>
        <a:srgbClr val="CAEAF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
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b4497104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b4497104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444775"/>
            <a:ext cx="76284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Advent of Oil Paint and Canvas - The Invention of Cristallo Glass (72-74)</a:t>
            </a:r>
            <a:endParaRPr sz="5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250" y="1309600"/>
            <a:ext cx="8137200" cy="348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Tempera dried fast, but not blend smoothly(for 3D effect)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Jan van Eyck &amp; Robert Campin(oil paint in Flanders, Belgium)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 u="sng">
                <a:solidFill>
                  <a:schemeClr val="accent2"/>
                </a:solidFill>
              </a:rPr>
              <a:t>Oil Paint:</a:t>
            </a:r>
            <a:r>
              <a:rPr b="1" lang="en" sz="2300">
                <a:solidFill>
                  <a:schemeClr val="accent6"/>
                </a:solidFill>
              </a:rPr>
              <a:t> </a:t>
            </a:r>
            <a:r>
              <a:rPr lang="en" sz="2300">
                <a:solidFill>
                  <a:schemeClr val="accent6"/>
                </a:solidFill>
              </a:rPr>
              <a:t>suspend pigments in oil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Canvas adds support, cheaper &amp; smaller, &amp; primed w/ binder</a:t>
            </a:r>
            <a:r>
              <a:rPr b="1" lang="en" sz="2300">
                <a:solidFill>
                  <a:schemeClr val="accent2"/>
                </a:solidFill>
              </a:rPr>
              <a:t>{gesso}</a:t>
            </a:r>
            <a:r>
              <a:rPr lang="en" sz="2300">
                <a:solidFill>
                  <a:schemeClr val="accent6"/>
                </a:solidFill>
              </a:rPr>
              <a:t>(14th-cent. Venice-&gt;mid-16th-cent. Europe)</a:t>
            </a:r>
            <a:endParaRPr sz="2300">
              <a:solidFill>
                <a:schemeClr val="accent6"/>
              </a:solidFill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0" y="75775"/>
            <a:ext cx="9144000" cy="1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 u="sng">
                <a:latin typeface="Georgia"/>
                <a:ea typeface="Georgia"/>
                <a:cs typeface="Georgia"/>
                <a:sym typeface="Georgia"/>
              </a:rPr>
              <a:t>THE ADVENT OF OIL PAINT AND CANVAS</a:t>
            </a:r>
            <a:endParaRPr b="1" i="1" sz="32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2775" y="1794875"/>
            <a:ext cx="1443700" cy="14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8337" r="9195" t="14427"/>
          <a:stretch/>
        </p:blipFill>
        <p:spPr>
          <a:xfrm>
            <a:off x="7245125" y="187548"/>
            <a:ext cx="1801349" cy="12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83250" y="1489975"/>
            <a:ext cx="5757300" cy="346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2"/>
                </a:solidFill>
              </a:rPr>
              <a:t>Artemisia Gentileschi</a:t>
            </a:r>
            <a:r>
              <a:rPr lang="en" sz="2300">
                <a:solidFill>
                  <a:schemeClr val="accent2"/>
                </a:solidFill>
              </a:rPr>
              <a:t> </a:t>
            </a:r>
            <a:r>
              <a:rPr lang="en" sz="2300">
                <a:solidFill>
                  <a:schemeClr val="accent6"/>
                </a:solidFill>
              </a:rPr>
              <a:t>- </a:t>
            </a:r>
            <a:r>
              <a:rPr lang="en" sz="2300">
                <a:solidFill>
                  <a:schemeClr val="accent6"/>
                </a:solidFill>
              </a:rPr>
              <a:t>successful (</a:t>
            </a:r>
            <a:r>
              <a:rPr b="1" lang="en" sz="2300">
                <a:solidFill>
                  <a:schemeClr val="accent2"/>
                </a:solidFill>
              </a:rPr>
              <a:t>Baroque</a:t>
            </a:r>
            <a:r>
              <a:rPr lang="en" sz="2300">
                <a:solidFill>
                  <a:schemeClr val="accent6"/>
                </a:solidFill>
              </a:rPr>
              <a:t> artist)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Tapped into violent topics</a:t>
            </a:r>
            <a:endParaRPr sz="2300">
              <a:solidFill>
                <a:schemeClr val="accent6"/>
              </a:solidFill>
            </a:endParaRPr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○"/>
            </a:pPr>
            <a:r>
              <a:rPr lang="en" sz="2300">
                <a:solidFill>
                  <a:schemeClr val="accent6"/>
                </a:solidFill>
              </a:rPr>
              <a:t>Glorifies women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Realistic images b/c oil paint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lang="en" sz="2300">
                <a:solidFill>
                  <a:schemeClr val="accent6"/>
                </a:solidFill>
              </a:rPr>
              <a:t>Judith is in Old Testament</a:t>
            </a:r>
            <a:endParaRPr sz="2300">
              <a:solidFill>
                <a:schemeClr val="accent6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●"/>
            </a:pPr>
            <a:r>
              <a:rPr b="1" lang="en" sz="2300">
                <a:solidFill>
                  <a:schemeClr val="accent2"/>
                </a:solidFill>
              </a:rPr>
              <a:t>Tenebrism</a:t>
            </a:r>
            <a:r>
              <a:rPr lang="en" sz="2300">
                <a:solidFill>
                  <a:schemeClr val="accent6"/>
                </a:solidFill>
              </a:rPr>
              <a:t> seen used</a:t>
            </a:r>
            <a:endParaRPr sz="2300">
              <a:solidFill>
                <a:schemeClr val="accent6"/>
              </a:solidFill>
            </a:endParaRPr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0" y="75775"/>
            <a:ext cx="9144000" cy="13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 u="sng">
                <a:latin typeface="Georgia"/>
                <a:ea typeface="Georgia"/>
                <a:cs typeface="Georgia"/>
                <a:sym typeface="Georgia"/>
              </a:rPr>
              <a:t>SELECTED WORK: Judith and Her Maidservant with the Head of Holofernes, Artemisia Gentileschi, c.1623–25</a:t>
            </a:r>
            <a:endParaRPr b="1" i="1" sz="25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941"/>
          <a:stretch/>
        </p:blipFill>
        <p:spPr>
          <a:xfrm>
            <a:off x="6111750" y="1112175"/>
            <a:ext cx="2859451" cy="3679025"/>
          </a:xfrm>
          <a:prstGeom prst="rect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5075" y="2135425"/>
            <a:ext cx="2977576" cy="297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C0AAC8"/>
      </a:dk1>
      <a:lt1>
        <a:srgbClr val="FFFFFF"/>
      </a:lt1>
      <a:dk2>
        <a:srgbClr val="434343"/>
      </a:dk2>
      <a:lt2>
        <a:srgbClr val="999999"/>
      </a:lt2>
      <a:accent1>
        <a:srgbClr val="58454B"/>
      </a:accent1>
      <a:accent2>
        <a:srgbClr val="C4B1CB"/>
      </a:accent2>
      <a:accent3>
        <a:srgbClr val="C6B4CE"/>
      </a:accent3>
      <a:accent4>
        <a:srgbClr val="BDAAC6"/>
      </a:accent4>
      <a:accent5>
        <a:srgbClr val="CBBBCE"/>
      </a:accent5>
      <a:accent6>
        <a:srgbClr val="998382"/>
      </a:accent6>
      <a:hlink>
        <a:srgbClr val="BDA7C6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
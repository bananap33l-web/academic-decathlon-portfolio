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096d633a4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096d633a4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096d633a4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096d633a4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0a1b8ef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80a1b8ef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7800" y="145650"/>
            <a:ext cx="7628400" cy="343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Ancient Mesopotamian Art - Greek and Roman Art (11-13)</a:t>
            </a:r>
            <a:endParaRPr sz="5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52950" y="1024375"/>
            <a:ext cx="6786600" cy="37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/>
              <a:t>2334 BC-2150:</a:t>
            </a:r>
            <a:r>
              <a:rPr lang="en" sz="2300"/>
              <a:t> Sumer in </a:t>
            </a:r>
            <a:r>
              <a:rPr lang="en" sz="2300"/>
              <a:t>control</a:t>
            </a:r>
            <a:r>
              <a:rPr lang="en" sz="2300"/>
              <a:t> of Akkadians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loyalty to King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freestanding/relief sculptures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/>
              <a:t>1729 BC:</a:t>
            </a:r>
            <a:r>
              <a:rPr lang="en" sz="2300"/>
              <a:t> Babylonians(Hammurabi)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Code &amp; relief sculpture at top(Hammurabi </a:t>
            </a:r>
            <a:r>
              <a:rPr lang="en" sz="2300"/>
              <a:t>inspired</a:t>
            </a:r>
            <a:r>
              <a:rPr lang="en" sz="2300"/>
              <a:t> by Shamash)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Neo-Babylonians: Ishtar Gate(Animals superimposed on wall) &amp; hanging gardens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308000" y="75775"/>
            <a:ext cx="86544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Ancient Mesopotamian Art</a:t>
            </a:r>
            <a:endParaRPr b="1" i="1" sz="49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Example of a Ziggurat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5329" t="0"/>
          <a:stretch/>
        </p:blipFill>
        <p:spPr>
          <a:xfrm>
            <a:off x="6903825" y="1024375"/>
            <a:ext cx="2058575" cy="142872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9" name="Google Shape;99;p14"/>
          <p:cNvSpPr txBox="1"/>
          <p:nvPr/>
        </p:nvSpPr>
        <p:spPr>
          <a:xfrm>
            <a:off x="7085012" y="2380375"/>
            <a:ext cx="16962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Example of a Ziggurat</a:t>
            </a:r>
            <a:endParaRPr sz="11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9561" y="3035748"/>
            <a:ext cx="2165450" cy="15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318075" y="3130300"/>
            <a:ext cx="1520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Akkadian rulers</a:t>
            </a:r>
            <a:endParaRPr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83950" y="916875"/>
            <a:ext cx="5137800" cy="3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b="1" lang="en" sz="2300"/>
              <a:t>538 BC–330 BC:</a:t>
            </a:r>
            <a:r>
              <a:rPr lang="en" sz="2300">
                <a:solidFill>
                  <a:srgbClr val="434343"/>
                </a:solidFill>
              </a:rPr>
              <a:t> Persian Empire (present-day Iran)</a:t>
            </a:r>
            <a:endParaRPr sz="2300">
              <a:solidFill>
                <a:srgbClr val="434343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○"/>
            </a:pPr>
            <a:r>
              <a:rPr lang="en" sz="2300">
                <a:solidFill>
                  <a:srgbClr val="434343"/>
                </a:solidFill>
              </a:rPr>
              <a:t>Palace at Persepolis (made of stone, brick, &amp; wood)</a:t>
            </a:r>
            <a:endParaRPr sz="2300">
              <a:solidFill>
                <a:srgbClr val="434343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■"/>
            </a:pPr>
            <a:r>
              <a:rPr lang="en" sz="2300">
                <a:solidFill>
                  <a:srgbClr val="434343"/>
                </a:solidFill>
              </a:rPr>
              <a:t>Reflects influence of Egyptian architecture</a:t>
            </a:r>
            <a:endParaRPr sz="2300">
              <a:solidFill>
                <a:srgbClr val="434343"/>
              </a:solidFill>
            </a:endParaRPr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308000" y="75775"/>
            <a:ext cx="86544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Persian Art</a:t>
            </a:r>
            <a:endParaRPr b="1" i="1" sz="49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875" y="232700"/>
            <a:ext cx="3831050" cy="276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Ancient Egyptian Art</a:t>
            </a:r>
            <a:endParaRPr b="1" i="1" sz="47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29900" y="633400"/>
            <a:ext cx="81363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3000 B.C. - 332 B.C.: </a:t>
            </a:r>
            <a:r>
              <a:rPr lang="en" sz="2500"/>
              <a:t>Ancient Egypt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Emphasizes size to show a figure’s status(</a:t>
            </a:r>
            <a:r>
              <a:rPr lang="en" sz="2500"/>
              <a:t>hierarchical scale)&amp; showed all parts(fractional representation)</a:t>
            </a:r>
            <a:endParaRPr sz="2500"/>
          </a:p>
        </p:txBody>
      </p:sp>
      <p:grpSp>
        <p:nvGrpSpPr>
          <p:cNvPr id="115" name="Google Shape;115;p16"/>
          <p:cNvGrpSpPr/>
          <p:nvPr/>
        </p:nvGrpSpPr>
        <p:grpSpPr>
          <a:xfrm>
            <a:off x="1233200" y="3211525"/>
            <a:ext cx="2074800" cy="1559725"/>
            <a:chOff x="1035675" y="3195075"/>
            <a:chExt cx="2074800" cy="1559725"/>
          </a:xfrm>
        </p:grpSpPr>
        <p:pic>
          <p:nvPicPr>
            <p:cNvPr id="116" name="Google Shape;116;p16"/>
            <p:cNvPicPr preferRelativeResize="0"/>
            <p:nvPr/>
          </p:nvPicPr>
          <p:blipFill rotWithShape="1">
            <a:blip r:embed="rId3">
              <a:alphaModFix/>
            </a:blip>
            <a:srcRect b="-9" l="0" r="0" t="6986"/>
            <a:stretch/>
          </p:blipFill>
          <p:spPr>
            <a:xfrm>
              <a:off x="1328897" y="3195075"/>
              <a:ext cx="1781578" cy="15597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7" name="Google Shape;117;p16"/>
            <p:cNvCxnSpPr/>
            <p:nvPr/>
          </p:nvCxnSpPr>
          <p:spPr>
            <a:xfrm>
              <a:off x="1035675" y="3303422"/>
              <a:ext cx="517200" cy="1407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" name="Google Shape;118;p16"/>
            <p:cNvSpPr/>
            <p:nvPr/>
          </p:nvSpPr>
          <p:spPr>
            <a:xfrm>
              <a:off x="1417555" y="3248530"/>
              <a:ext cx="455400" cy="682500"/>
            </a:xfrm>
            <a:prstGeom prst="ellipse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2231024" y="3420933"/>
              <a:ext cx="240900" cy="406500"/>
            </a:xfrm>
            <a:prstGeom prst="rect">
              <a:avLst/>
            </a:prstGeom>
            <a:solidFill>
              <a:srgbClr val="8B6E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9450" y="2088025"/>
            <a:ext cx="3911600" cy="27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/>
              <a:t>Nubian Art</a:t>
            </a:r>
            <a:endParaRPr b="1" i="1" sz="4700" u="sng"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0" y="940825"/>
            <a:ext cx="6584700" cy="4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Nubia covered around southern Egypt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completely controlled Egypt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Influenced Egypt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Info could change as people find new stuff</a:t>
            </a:r>
            <a:endParaRPr sz="2500"/>
          </a:p>
        </p:txBody>
      </p:sp>
      <p:pic>
        <p:nvPicPr>
          <p:cNvPr descr="Nubia | Abagond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4333"/>
          <a:stretch/>
        </p:blipFill>
        <p:spPr>
          <a:xfrm>
            <a:off x="6477825" y="213950"/>
            <a:ext cx="2451450" cy="27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7100" y="2991050"/>
            <a:ext cx="2000050" cy="20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6765075" y="4502350"/>
            <a:ext cx="2164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 about Nubia Loading …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700" y="1709575"/>
            <a:ext cx="3433925" cy="3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64F0E0"/>
      </a:dk1>
      <a:lt1>
        <a:srgbClr val="FFFFFF"/>
      </a:lt1>
      <a:dk2>
        <a:srgbClr val="434343"/>
      </a:dk2>
      <a:lt2>
        <a:srgbClr val="999999"/>
      </a:lt2>
      <a:accent1>
        <a:srgbClr val="FFD834"/>
      </a:accent1>
      <a:accent2>
        <a:srgbClr val="FF8F21"/>
      </a:accent2>
      <a:accent3>
        <a:srgbClr val="3ECFA7"/>
      </a:accent3>
      <a:accent4>
        <a:srgbClr val="6CD3B6"/>
      </a:accent4>
      <a:accent5>
        <a:srgbClr val="3ECF98"/>
      </a:accent5>
      <a:accent6>
        <a:srgbClr val="FEBA29"/>
      </a:accent6>
      <a:hlink>
        <a:srgbClr val="3FCFA7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
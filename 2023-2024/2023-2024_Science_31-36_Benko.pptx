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font" Target="fonts/Roboto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3ea0ea6f5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3ea0ea6f5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ea0ea6f5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3ea0ea6f5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3ed3bb95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3ed3bb95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ee21649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ee21649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3ee1fc3d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3ee1fc3d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ed3bb952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ed3bb95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ee21649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ee21649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ee21649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3ee21649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UZthGjcuTDs" TargetMode="External"/><Relationship Id="rId4" Type="http://schemas.openxmlformats.org/officeDocument/2006/relationships/image" Target="../media/image9.jp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 flipH="1">
            <a:off x="8225371" y="392272"/>
            <a:ext cx="918636" cy="838809"/>
            <a:chOff x="914900" y="3806450"/>
            <a:chExt cx="451707" cy="481825"/>
          </a:xfrm>
        </p:grpSpPr>
        <p:sp>
          <p:nvSpPr>
            <p:cNvPr id="86" name="Google Shape;86;p13"/>
            <p:cNvSpPr/>
            <p:nvPr/>
          </p:nvSpPr>
          <p:spPr>
            <a:xfrm>
              <a:off x="914900" y="4174425"/>
              <a:ext cx="423400" cy="113850"/>
            </a:xfrm>
            <a:custGeom>
              <a:rect b="b" l="l" r="r" t="t"/>
              <a:pathLst>
                <a:path extrusionOk="0" h="4554" w="16936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rgbClr val="039B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53670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57800" y="145650"/>
            <a:ext cx="7628400" cy="343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Action Potential - Synaptic Transmission (31-36)</a:t>
            </a:r>
            <a:endParaRPr sz="5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177950" y="69275"/>
            <a:ext cx="86544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900" u="sng">
                <a:latin typeface="Georgia"/>
                <a:ea typeface="Georgia"/>
                <a:cs typeface="Georgia"/>
                <a:sym typeface="Georgia"/>
              </a:rPr>
              <a:t>The Action Potential</a:t>
            </a:r>
            <a:endParaRPr b="1" i="1" sz="49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345575" y="1229875"/>
            <a:ext cx="7483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Action potential</a:t>
            </a:r>
            <a:r>
              <a:rPr lang="en" sz="2300"/>
              <a:t>:electrical potential across neuronal membrane when neuron is firing signals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Measured in volts(V)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Few milliseconds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Triggered by any stimulus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Involves rapid ion channel opening/closing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AKA spikes/nerve impulses/APs</a:t>
            </a:r>
            <a:endParaRPr sz="2300"/>
          </a:p>
        </p:txBody>
      </p:sp>
      <p:sp>
        <p:nvSpPr>
          <p:cNvPr id="98" name="Google Shape;98;p14"/>
          <p:cNvSpPr txBox="1"/>
          <p:nvPr/>
        </p:nvSpPr>
        <p:spPr>
          <a:xfrm>
            <a:off x="2147125" y="4269775"/>
            <a:ext cx="1710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u="sng">
                <a:solidFill>
                  <a:schemeClr val="hlink"/>
                </a:solidFill>
                <a:hlinkClick r:id="rId3"/>
              </a:rPr>
              <a:t>https://www.youtube.com/watch?v=UZthGjcuTDs</a:t>
            </a:r>
            <a:endParaRPr sz="400"/>
          </a:p>
        </p:txBody>
      </p:sp>
      <p:pic>
        <p:nvPicPr>
          <p:cNvPr descr="Zoom on the headlines - &quot;Well yes, but actually no&quot;"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1825" y="1826163"/>
            <a:ext cx="28575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Main Causes of Stress in College Students | LoveToKnow" id="100" name="Google Shape;10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1575" y="1688525"/>
            <a:ext cx="2630775" cy="17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598975" y="0"/>
            <a:ext cx="49440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900" u="sng">
                <a:latin typeface="Georgia"/>
                <a:ea typeface="Georgia"/>
                <a:cs typeface="Georgia"/>
                <a:sym typeface="Georgia"/>
              </a:rPr>
              <a:t>Rising Phase</a:t>
            </a:r>
            <a:endParaRPr b="1" i="1" sz="49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345575" y="1229875"/>
            <a:ext cx="8596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Resting neuron potential: -60 to -80 mV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Membrane potential </a:t>
            </a:r>
            <a:r>
              <a:rPr i="1" lang="en" sz="2300"/>
              <a:t>rises</a:t>
            </a:r>
            <a:r>
              <a:rPr lang="en" sz="2300"/>
              <a:t> in voltage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Positive ions enter neuron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Neuron’s charge approaches</a:t>
            </a:r>
            <a:r>
              <a:rPr lang="en" sz="2300"/>
              <a:t>  </a:t>
            </a:r>
            <a:r>
              <a:rPr lang="en" sz="2300"/>
              <a:t>charge outside (depolarization)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Potential get to around +30 to +40 mV(peak)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When</a:t>
            </a:r>
            <a:r>
              <a:rPr lang="en" sz="2300"/>
              <a:t> </a:t>
            </a:r>
            <a:r>
              <a:rPr lang="en" sz="2300"/>
              <a:t>rising phase starts,</a:t>
            </a:r>
            <a:r>
              <a:rPr lang="en" sz="2300"/>
              <a:t> </a:t>
            </a:r>
            <a:r>
              <a:rPr lang="en" sz="2300"/>
              <a:t>full action potential </a:t>
            </a:r>
            <a:r>
              <a:rPr i="1" lang="en" sz="2300"/>
              <a:t>has</a:t>
            </a:r>
            <a:r>
              <a:rPr lang="en" sz="2300"/>
              <a:t> to finish</a:t>
            </a:r>
            <a:endParaRPr sz="2300"/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30554" l="2775" r="3142" t="1227"/>
          <a:stretch/>
        </p:blipFill>
        <p:spPr>
          <a:xfrm>
            <a:off x="7171850" y="1039225"/>
            <a:ext cx="1664400" cy="25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598975" y="0"/>
            <a:ext cx="49440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900" u="sng">
                <a:latin typeface="Georgia"/>
                <a:ea typeface="Georgia"/>
                <a:cs typeface="Georgia"/>
                <a:sym typeface="Georgia"/>
              </a:rPr>
              <a:t>Falling</a:t>
            </a:r>
            <a:r>
              <a:rPr b="1" i="1" lang="en" sz="4900" u="sng">
                <a:latin typeface="Georgia"/>
                <a:ea typeface="Georgia"/>
                <a:cs typeface="Georgia"/>
                <a:sym typeface="Georgia"/>
              </a:rPr>
              <a:t> Phase</a:t>
            </a:r>
            <a:endParaRPr b="1" i="1" sz="49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45575" y="1229875"/>
            <a:ext cx="8596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Membrane potential decreases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Positive ions leave neuron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Repolarization/hyperpolarization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continues to fall </a:t>
            </a:r>
            <a:r>
              <a:rPr lang="en" sz="2300"/>
              <a:t>until</a:t>
            </a:r>
            <a:r>
              <a:rPr lang="en" sz="2300"/>
              <a:t> −80 mV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undershoot/afterhyperpolarization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Na</a:t>
            </a:r>
            <a:r>
              <a:rPr lang="en" sz="2300"/>
              <a:t>-K pump works to reset voltage</a:t>
            </a:r>
            <a:endParaRPr sz="2300"/>
          </a:p>
        </p:txBody>
      </p:sp>
      <p:pic>
        <p:nvPicPr>
          <p:cNvPr descr="Falling Drunk Man Falling GIF - Falling Drunk Man Falling Drunk GIFs"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775" y="1014550"/>
            <a:ext cx="2389100" cy="23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609600" y="-76200"/>
            <a:ext cx="91440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500" u="sng">
                <a:latin typeface="Georgia"/>
                <a:ea typeface="Georgia"/>
                <a:cs typeface="Georgia"/>
                <a:sym typeface="Georgia"/>
              </a:rPr>
              <a:t>Sodium Channels</a:t>
            </a:r>
            <a:endParaRPr b="1" i="1" sz="45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426000" y="803100"/>
            <a:ext cx="8596800" cy="3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Channels that let ions move at</a:t>
            </a:r>
            <a:r>
              <a:rPr lang="en" sz="2300"/>
              <a:t> </a:t>
            </a:r>
            <a:r>
              <a:rPr lang="en" sz="2300"/>
              <a:t>certain membrane potentials</a:t>
            </a:r>
            <a:r>
              <a:rPr lang="en" sz="2300"/>
              <a:t> or </a:t>
            </a:r>
            <a:r>
              <a:rPr lang="en" sz="2300"/>
              <a:t>voltages(Voltage-gated)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Outside more positive than inside(Positive ions try to go inside)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Rising phase due to Na+ influx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Peak(+30 to +40 mV), channels become inactive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Absolute refractory period prevents second AP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1185"/>
          <a:stretch/>
        </p:blipFill>
        <p:spPr>
          <a:xfrm>
            <a:off x="0" y="457201"/>
            <a:ext cx="9143999" cy="436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345575" y="886500"/>
            <a:ext cx="8596800" cy="36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Potassium channels start to open at 0 mV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Slow opening and closing, fully open at peak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K+ rushes out (K+ Efflux)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 to close near resting potential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K keeps leaving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Referred </a:t>
            </a:r>
            <a:r>
              <a:rPr lang="en" sz="2300"/>
              <a:t>as delayed rectifier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Still is impossible to start another AP(relative refractory period)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Reset by with Sodium-potassium pump</a:t>
            </a:r>
            <a:endParaRPr sz="2300"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762000" y="0"/>
            <a:ext cx="91440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500" u="sng">
                <a:latin typeface="Georgia"/>
                <a:ea typeface="Georgia"/>
                <a:cs typeface="Georgia"/>
                <a:sym typeface="Georgia"/>
              </a:rPr>
              <a:t>Potassium Channels</a:t>
            </a:r>
            <a:endParaRPr b="1" i="1" sz="45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495" y="1725450"/>
            <a:ext cx="2356700" cy="169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sh Bunch of Bananas"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9475" y="39100"/>
            <a:ext cx="1582901" cy="158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45575" y="1229875"/>
            <a:ext cx="8596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Initiated at the cell body(soma)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Travels down Axon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Repeating the action potential sequence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Can trigger another sequence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Only goes in one way</a:t>
            </a:r>
            <a:endParaRPr sz="2300"/>
          </a:p>
        </p:txBody>
      </p:sp>
      <p:sp>
        <p:nvSpPr>
          <p:cNvPr id="140" name="Google Shape;140;p20"/>
          <p:cNvSpPr txBox="1"/>
          <p:nvPr>
            <p:ph type="title"/>
          </p:nvPr>
        </p:nvSpPr>
        <p:spPr>
          <a:xfrm>
            <a:off x="-125" y="0"/>
            <a:ext cx="9144000" cy="1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Action Potential Conduction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900" y="2506025"/>
            <a:ext cx="3172099" cy="22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12" y="-298268"/>
            <a:ext cx="8497376" cy="5536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45575" y="1229875"/>
            <a:ext cx="8596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Areas of axon is covered in myelin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Sheath made by glial cells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Similar to insulation on wires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Nodes of Ranvier:</a:t>
            </a:r>
            <a:r>
              <a:rPr lang="en" sz="2300"/>
              <a:t> gaps between Sheaths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Na &amp; K channels clumped in Nodes of Ranvier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Saltatory conduction:</a:t>
            </a:r>
            <a:r>
              <a:rPr lang="en" sz="2300"/>
              <a:t> conduction happening in myelin sheaths</a:t>
            </a:r>
            <a:endParaRPr sz="2300"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0" y="0"/>
            <a:ext cx="9144000" cy="1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700" u="sng">
                <a:latin typeface="Georgia"/>
                <a:ea typeface="Georgia"/>
                <a:cs typeface="Georgia"/>
                <a:sym typeface="Georgia"/>
              </a:rPr>
              <a:t>The Nodes of Ranvier and Saltatory Conduction</a:t>
            </a:r>
            <a:endParaRPr b="1" i="1" sz="3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In cars (2006) Lightning McQueen shows his dishonesty early in the film  when he states &quot;I am speed&quot; when actually he is in fact, a car. :  r/shittymoviedetails"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7275" y="813175"/>
            <a:ext cx="2255050" cy="16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550" y="2228850"/>
            <a:ext cx="47434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
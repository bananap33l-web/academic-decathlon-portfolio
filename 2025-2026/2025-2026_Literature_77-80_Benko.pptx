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8311f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8311f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8dce69af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8dce69af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2a9b66dc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2a9b66dc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77948" y="241790"/>
            <a:ext cx="8616000" cy="46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300" u="sng"/>
              <a:t>Poetry: Shall I say, ‘My Son You’re Branded’?” by Georgia Douglas Johnson - Poetry: “The Weary Blues” by Langston Hughes (77-80)</a:t>
            </a:r>
            <a:endParaRPr b="1" i="1" sz="5300" u="sng"/>
          </a:p>
        </p:txBody>
      </p:sp>
      <p:grpSp>
        <p:nvGrpSpPr>
          <p:cNvPr id="86" name="Google Shape;86;p13"/>
          <p:cNvGrpSpPr/>
          <p:nvPr/>
        </p:nvGrpSpPr>
        <p:grpSpPr>
          <a:xfrm>
            <a:off x="7335594" y="418157"/>
            <a:ext cx="783162" cy="592287"/>
            <a:chOff x="999536" y="3806450"/>
            <a:chExt cx="385092" cy="340219"/>
          </a:xfrm>
        </p:grpSpPr>
        <p:sp>
          <p:nvSpPr>
            <p:cNvPr id="87" name="Google Shape;87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391388" y="47263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By: Matija Benko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0" y="700625"/>
            <a:ext cx="9144000" cy="41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Georgia Douglas Johnson (1880–1966) major Harlem Renaissance poet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hosted Langston Hughes, Zora Neale Hurston,</a:t>
            </a:r>
            <a:r>
              <a:rPr lang="en" sz="2000"/>
              <a:t> &amp; </a:t>
            </a:r>
            <a:r>
              <a:rPr lang="en" sz="2000"/>
              <a:t>Countee Cullen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poetry explored women’s emotional struggles</a:t>
            </a:r>
            <a:r>
              <a:rPr lang="en" sz="2000"/>
              <a:t> &amp; </a:t>
            </a:r>
            <a:r>
              <a:rPr lang="en" sz="2000"/>
              <a:t>social limits, especially in her first book, The Heart of a Woman (1918)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Critics said early work lacked racial focus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Bronze (1922) addresses both race</a:t>
            </a:r>
            <a:r>
              <a:rPr lang="en" sz="2000"/>
              <a:t> &amp; </a:t>
            </a:r>
            <a:r>
              <a:rPr lang="en" sz="2000"/>
              <a:t>gender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Offers important perspective on Black women’s experiences in early 20th century</a:t>
            </a:r>
            <a:endParaRPr sz="2000"/>
          </a:p>
        </p:txBody>
      </p:sp>
      <p:sp>
        <p:nvSpPr>
          <p:cNvPr id="96" name="Google Shape;96;p14"/>
          <p:cNvSpPr txBox="1"/>
          <p:nvPr>
            <p:ph type="title"/>
          </p:nvPr>
        </p:nvSpPr>
        <p:spPr>
          <a:xfrm>
            <a:off x="74300" y="159425"/>
            <a:ext cx="9069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Georgia Douglas Johnson: Biography</a:t>
            </a:r>
            <a:r>
              <a:rPr b="1" i="1" lang="en" sz="24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 &amp; </a:t>
            </a:r>
            <a:r>
              <a:rPr b="1" i="1" lang="en" sz="24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Background</a:t>
            </a:r>
            <a:endParaRPr b="1" i="1" sz="2400" u="sng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7" name="Google Shape;97;p14" title="Screenshot 2025-12-07 at 2.32.3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7625" y="3181652"/>
            <a:ext cx="1376275" cy="19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4300" y="0"/>
            <a:ext cx="9069600" cy="5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Analysis of Georgia Douglas Johnson’s “Shall I Say, ‘My Son, You’re Branded’?”</a:t>
            </a:r>
            <a:endParaRPr b="1" i="1" sz="1800" u="sng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0" y="533800"/>
            <a:ext cx="8835300" cy="43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Black mother doesn’t know how to prepare son for racism &amp; giving him hope(“The Talk”)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Racism = staged performance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Black people are “branded” &amp; restricted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speaker fears that telling her son truth may be sad, but silence isn’t good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builds his inner strength, identity, &amp; courage to face injustice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reflects real threat of racial violence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believed art &amp; language could make a more just future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highlights role of mothers &amp; home in shaping resilience &amp; social change</a:t>
            </a:r>
            <a:endParaRPr sz="2000"/>
          </a:p>
        </p:txBody>
      </p:sp>
      <p:pic>
        <p:nvPicPr>
          <p:cNvPr id="104" name="Google Shape;104;p15" title="Screenshot 2025-12-07 at 2.24.06 PM.png"/>
          <p:cNvPicPr preferRelativeResize="0"/>
          <p:nvPr/>
        </p:nvPicPr>
        <p:blipFill rotWithShape="1">
          <a:blip r:embed="rId3">
            <a:alphaModFix/>
          </a:blip>
          <a:srcRect b="4743" l="0" r="0" t="0"/>
          <a:stretch/>
        </p:blipFill>
        <p:spPr>
          <a:xfrm>
            <a:off x="5217650" y="3741625"/>
            <a:ext cx="3926350" cy="143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100"/>
              <a:t>Thank You!</a:t>
            </a:r>
            <a:endParaRPr b="1" i="1" sz="15100"/>
          </a:p>
        </p:txBody>
      </p:sp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4320" l="0" r="0" t="4329"/>
          <a:stretch/>
        </p:blipFill>
        <p:spPr>
          <a:xfrm>
            <a:off x="5808124" y="2080900"/>
            <a:ext cx="3352751" cy="306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00000"/>
      </a:dk1>
      <a:lt1>
        <a:srgbClr val="FFFFFF"/>
      </a:lt1>
      <a:dk2>
        <a:srgbClr val="3F3F3F"/>
      </a:dk2>
      <a:lt2>
        <a:srgbClr val="091164"/>
      </a:lt2>
      <a:accent1>
        <a:srgbClr val="A67553"/>
      </a:accent1>
      <a:accent2>
        <a:srgbClr val="9B3421"/>
      </a:accent2>
      <a:accent3>
        <a:srgbClr val="9B3421"/>
      </a:accent3>
      <a:accent4>
        <a:srgbClr val="BFB894"/>
      </a:accent4>
      <a:accent5>
        <a:srgbClr val="0D438B"/>
      </a:accent5>
      <a:accent6>
        <a:srgbClr val="47401C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
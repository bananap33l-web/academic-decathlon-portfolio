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8311f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8311f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8dce69af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8dce69af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2a9b66d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2a9b66d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77948" y="241790"/>
            <a:ext cx="8616000" cy="4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600" u="sng"/>
              <a:t>Modernism at Home and Abroad (19-20)</a:t>
            </a:r>
            <a:endParaRPr b="1" i="1" sz="8600" u="sng"/>
          </a:p>
        </p:txBody>
      </p:sp>
      <p:grpSp>
        <p:nvGrpSpPr>
          <p:cNvPr id="86" name="Google Shape;86;p13"/>
          <p:cNvGrpSpPr/>
          <p:nvPr/>
        </p:nvGrpSpPr>
        <p:grpSpPr>
          <a:xfrm>
            <a:off x="7335594" y="418157"/>
            <a:ext cx="783162" cy="592287"/>
            <a:chOff x="999536" y="3806450"/>
            <a:chExt cx="385092" cy="340219"/>
          </a:xfrm>
        </p:grpSpPr>
        <p:sp>
          <p:nvSpPr>
            <p:cNvPr id="87" name="Google Shape;8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391388" y="47263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By: Matija Benko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0" y="700625"/>
            <a:ext cx="91440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 u="sng">
                <a:solidFill>
                  <a:schemeClr val="accent5"/>
                </a:solidFill>
              </a:rPr>
              <a:t>Modernism:</a:t>
            </a:r>
            <a:r>
              <a:rPr lang="en" sz="2000"/>
              <a:t> efforts of artists to cope with fast changes everywhere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artists wanted to break from old traditions &amp; experiment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Literary modernism: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direct presentation of experience, heavy use of language, symbolism, &amp; casual style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original, non-rhyming forms and musical or conversational style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T. S. Eliot’s </a:t>
            </a:r>
            <a:r>
              <a:rPr i="1" lang="en" sz="2000"/>
              <a:t>The Waste Land</a:t>
            </a:r>
            <a:r>
              <a:rPr lang="en" sz="2000"/>
              <a:t> defied old use of poetry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F. Scott Fitzgerald was influenced(person is the focal point)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philosophical concerns mentioned</a:t>
            </a:r>
            <a:endParaRPr sz="2000"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MODERNISM AT HOME AND ABROAD</a:t>
            </a:r>
            <a:endParaRPr b="1" i="1" sz="3100" u="sng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7" name="Google Shape;97;p14" title="Screenshot 2025-11-22 at 7.22.44 PM.png"/>
          <p:cNvPicPr preferRelativeResize="0"/>
          <p:nvPr/>
        </p:nvPicPr>
        <p:blipFill rotWithShape="1">
          <a:blip r:embed="rId3">
            <a:alphaModFix/>
          </a:blip>
          <a:srcRect b="0" l="6488" r="8916" t="0"/>
          <a:stretch/>
        </p:blipFill>
        <p:spPr>
          <a:xfrm>
            <a:off x="7241575" y="2834375"/>
            <a:ext cx="1850075" cy="21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Sigmund Freud</a:t>
            </a:r>
            <a:endParaRPr b="1" i="1" sz="3100" u="sng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0" y="700625"/>
            <a:ext cx="53766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challenged beliefs about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human development &amp; desire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more urbanization and loneliness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destruction of traditional ideas of home, country, and region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How WWI was bad</a:t>
            </a:r>
            <a:endParaRPr sz="2000"/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23200" l="0" r="0" t="3517"/>
          <a:stretch/>
        </p:blipFill>
        <p:spPr>
          <a:xfrm>
            <a:off x="5147101" y="34142"/>
            <a:ext cx="3960375" cy="39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100"/>
              <a:t>Thank You!</a:t>
            </a:r>
            <a:endParaRPr b="1" i="1" sz="15100"/>
          </a:p>
        </p:txBody>
      </p:sp>
      <p:pic>
        <p:nvPicPr>
          <p:cNvPr id="110" name="Google Shape;110;p16"/>
          <p:cNvPicPr preferRelativeResize="0"/>
          <p:nvPr/>
        </p:nvPicPr>
        <p:blipFill rotWithShape="1">
          <a:blip r:embed="rId3">
            <a:alphaModFix/>
          </a:blip>
          <a:srcRect b="4320" l="0" r="0" t="4329"/>
          <a:stretch/>
        </p:blipFill>
        <p:spPr>
          <a:xfrm>
            <a:off x="5808124" y="2080900"/>
            <a:ext cx="3352751" cy="306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000000"/>
      </a:dk1>
      <a:lt1>
        <a:srgbClr val="FFFFFF"/>
      </a:lt1>
      <a:dk2>
        <a:srgbClr val="3F3F3F"/>
      </a:dk2>
      <a:lt2>
        <a:srgbClr val="091164"/>
      </a:lt2>
      <a:accent1>
        <a:srgbClr val="A67553"/>
      </a:accent1>
      <a:accent2>
        <a:srgbClr val="9B3421"/>
      </a:accent2>
      <a:accent3>
        <a:srgbClr val="9B3421"/>
      </a:accent3>
      <a:accent4>
        <a:srgbClr val="BFB894"/>
      </a:accent4>
      <a:accent5>
        <a:srgbClr val="0D438B"/>
      </a:accent5>
      <a:accent6>
        <a:srgbClr val="47401C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
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cf8ef6f9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cf8ef6f9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f8ef6f9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cf8ef6f9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300" u="sng"/>
              <a:t>Coulomb’s Law - Electric Fields (13-15)</a:t>
            </a:r>
            <a:endParaRPr b="1" i="1" sz="93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3799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Coulomb’s Law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Charles Coulomb 1785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Torsion Balance(charged rod suspended by string &amp; can be twisted by elec-forces from the charge)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Macro-scale is big for subatomics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Electric force proportional to charge (inverse square)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7" name="Google Shape;97;p14" title="Screenshot 2025-09-25 12.57.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700" y="1450175"/>
            <a:ext cx="2140825" cy="26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ulomb's Law Graphing Calculator - Multiple Point Charges!"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2056" y="2362027"/>
            <a:ext cx="30670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downloa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001" y="2618476"/>
            <a:ext cx="2368050" cy="23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Coulomb’s Law(</a:t>
            </a:r>
            <a:r>
              <a:rPr b="1" lang="en" sz="1500">
                <a:latin typeface="Georgia"/>
                <a:ea typeface="Georgia"/>
                <a:cs typeface="Georgia"/>
                <a:sym typeface="Georgia"/>
              </a:rPr>
              <a:t>pt.2</a:t>
            </a:r>
            <a:r>
              <a:rPr b="1" lang="en">
                <a:latin typeface="Georgia"/>
                <a:ea typeface="Georgia"/>
                <a:cs typeface="Georgia"/>
                <a:sym typeface="Georgia"/>
              </a:rPr>
              <a:t>)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Electron is - 1.7*10</a:t>
            </a:r>
            <a:r>
              <a:rPr baseline="30000" lang="en" sz="2000">
                <a:solidFill>
                  <a:schemeClr val="dk1"/>
                </a:solidFill>
              </a:rPr>
              <a:t>-19</a:t>
            </a:r>
            <a:r>
              <a:rPr lang="en" sz="2000">
                <a:solidFill>
                  <a:schemeClr val="dk1"/>
                </a:solidFill>
              </a:rPr>
              <a:t> coulombs (quantized)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Static electricity -&gt; micro/nanocoulombs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Coulomb’s constant is 8.99*10</a:t>
            </a:r>
            <a:r>
              <a:rPr baseline="30000" lang="en" sz="2000">
                <a:solidFill>
                  <a:schemeClr val="dk1"/>
                </a:solidFill>
              </a:rPr>
              <a:t>9 </a:t>
            </a:r>
            <a:r>
              <a:rPr lang="en" sz="2000">
                <a:solidFill>
                  <a:schemeClr val="dk1"/>
                </a:solidFill>
              </a:rPr>
              <a:t>N m</a:t>
            </a:r>
            <a:r>
              <a:rPr baseline="30000" lang="en" sz="2000">
                <a:solidFill>
                  <a:schemeClr val="dk1"/>
                </a:solidFill>
              </a:rPr>
              <a:t>2</a:t>
            </a:r>
            <a:r>
              <a:rPr lang="en" sz="2000">
                <a:solidFill>
                  <a:schemeClr val="dk1"/>
                </a:solidFill>
              </a:rPr>
              <a:t>/c</a:t>
            </a:r>
            <a:r>
              <a:rPr baseline="30000" lang="en" sz="2000">
                <a:solidFill>
                  <a:schemeClr val="dk1"/>
                </a:solidFill>
              </a:rPr>
              <a:t>2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Electric force is stronger than gravitational, but most atoms are neutral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1162" l="0" r="0" t="1171"/>
          <a:stretch/>
        </p:blipFill>
        <p:spPr>
          <a:xfrm>
            <a:off x="1698022" y="3231914"/>
            <a:ext cx="3294229" cy="15686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5"/>
          <p:cNvCxnSpPr/>
          <p:nvPr/>
        </p:nvCxnSpPr>
        <p:spPr>
          <a:xfrm flipH="1">
            <a:off x="3965382" y="2730511"/>
            <a:ext cx="497400" cy="750300"/>
          </a:xfrm>
          <a:prstGeom prst="straightConnector1">
            <a:avLst/>
          </a:prstGeom>
          <a:noFill/>
          <a:ln cap="flat" cmpd="sng" w="1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5"/>
          <p:cNvSpPr txBox="1"/>
          <p:nvPr/>
        </p:nvSpPr>
        <p:spPr>
          <a:xfrm>
            <a:off x="4319540" y="2360726"/>
            <a:ext cx="25101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350" lIns="155350" spcFirstLastPara="1" rIns="155350" wrap="square" tIns="15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Charge of both objects</a:t>
            </a:r>
            <a:endParaRPr sz="2378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 flipH="1">
            <a:off x="4580940" y="3227904"/>
            <a:ext cx="750300" cy="481500"/>
          </a:xfrm>
          <a:prstGeom prst="straightConnector1">
            <a:avLst/>
          </a:prstGeom>
          <a:noFill/>
          <a:ln cap="flat" cmpd="sng" w="1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/>
          <p:nvPr/>
        </p:nvCxnSpPr>
        <p:spPr>
          <a:xfrm rot="10800000">
            <a:off x="4319776" y="4554011"/>
            <a:ext cx="450900" cy="55500"/>
          </a:xfrm>
          <a:prstGeom prst="straightConnector1">
            <a:avLst/>
          </a:prstGeom>
          <a:noFill/>
          <a:ln cap="flat" cmpd="sng" w="1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5"/>
          <p:cNvSpPr txBox="1"/>
          <p:nvPr/>
        </p:nvSpPr>
        <p:spPr>
          <a:xfrm>
            <a:off x="4623000" y="4230355"/>
            <a:ext cx="23976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350" lIns="155350" spcFirstLastPara="1" rIns="155350" wrap="square" tIns="15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 sz="3058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205043" y="2360726"/>
            <a:ext cx="29871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350" lIns="155350" spcFirstLastPara="1" rIns="155350" wrap="square" tIns="15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Coulomb’s constant</a:t>
            </a:r>
            <a:endParaRPr sz="2378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(8.99E9Nm</a:t>
            </a:r>
            <a:r>
              <a:rPr baseline="30000"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/c</a:t>
            </a:r>
            <a:r>
              <a:rPr baseline="30000"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378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p15"/>
          <p:cNvCxnSpPr>
            <a:stCxn id="112" idx="2"/>
          </p:cNvCxnSpPr>
          <p:nvPr/>
        </p:nvCxnSpPr>
        <p:spPr>
          <a:xfrm>
            <a:off x="2698593" y="3280226"/>
            <a:ext cx="554700" cy="735300"/>
          </a:xfrm>
          <a:prstGeom prst="straightConnector1">
            <a:avLst/>
          </a:prstGeom>
          <a:noFill/>
          <a:ln cap="flat" cmpd="sng" w="1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5"/>
          <p:cNvSpPr txBox="1"/>
          <p:nvPr/>
        </p:nvSpPr>
        <p:spPr>
          <a:xfrm>
            <a:off x="620699" y="3557732"/>
            <a:ext cx="18960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350" lIns="155350" spcFirstLastPara="1" rIns="155350" wrap="square" tIns="15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8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Electric force</a:t>
            </a:r>
            <a:endParaRPr sz="2378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 flipH="1" rot="10800000">
            <a:off x="1494246" y="4135724"/>
            <a:ext cx="663300" cy="15900"/>
          </a:xfrm>
          <a:prstGeom prst="straightConnector1">
            <a:avLst/>
          </a:prstGeom>
          <a:noFill/>
          <a:ln cap="flat" cmpd="sng" w="1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5"/>
          <p:cNvSpPr/>
          <p:nvPr/>
        </p:nvSpPr>
        <p:spPr>
          <a:xfrm>
            <a:off x="5596350" y="750375"/>
            <a:ext cx="663300" cy="6633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Example from packet</a:t>
            </a:r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311700" y="936375"/>
            <a:ext cx="8520600" cy="4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Rubbing glass rod with cloth takes the glass’ electrons and moves them to the cloth(protons stay where they are)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total charge for the glass &amp; cloth system is 0 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Total charge of universe is also 0 C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ll the matter in the universe ..." id="123" name="Google Shape;1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75" y="261020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rry Lab Cloth | Amcon Labs" id="124" name="Google Shape;1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0875" y="176782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ass Stirring Rods ..."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4450" y="22943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descr="a yellow bird is perched on a branch with a green background and a bunch of letters that say aa"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430" y="2229500"/>
            <a:ext cx="3531100" cy="2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121212"/>
      </a:dk1>
      <a:lt1>
        <a:srgbClr val="FFFFFF"/>
      </a:lt1>
      <a:dk2>
        <a:srgbClr val="FFEA7E"/>
      </a:dk2>
      <a:lt2>
        <a:srgbClr val="DACAAE"/>
      </a:lt2>
      <a:accent1>
        <a:srgbClr val="C6B862"/>
      </a:accent1>
      <a:accent2>
        <a:srgbClr val="B5A534"/>
      </a:accent2>
      <a:accent3>
        <a:srgbClr val="868F6E"/>
      </a:accent3>
      <a:accent4>
        <a:srgbClr val="6E874A"/>
      </a:accent4>
      <a:accent5>
        <a:srgbClr val="799762"/>
      </a:accent5>
      <a:accent6>
        <a:srgbClr val="D5C884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
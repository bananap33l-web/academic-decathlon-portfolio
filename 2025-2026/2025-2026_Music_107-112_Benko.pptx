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78311f7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78311f7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a775e9a0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a775e9a0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Series of pizzicato block chords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c7a37ffc7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c7a37ffc7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2a9b66dc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2a9b66dc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hyperlink" Target="http://www.youtube.com/watch?v=6KHTMc4qyRU" TargetMode="External"/><Relationship Id="rId5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177948" y="241790"/>
            <a:ext cx="8616000" cy="46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6700" u="sng"/>
              <a:t>Jazz for Chamber Musicians - Jazz for the Concert Pianist (107-112)</a:t>
            </a:r>
            <a:endParaRPr b="1" i="1" sz="6700" u="sng"/>
          </a:p>
        </p:txBody>
      </p:sp>
      <p:grpSp>
        <p:nvGrpSpPr>
          <p:cNvPr id="86" name="Google Shape;86;p13"/>
          <p:cNvGrpSpPr/>
          <p:nvPr/>
        </p:nvGrpSpPr>
        <p:grpSpPr>
          <a:xfrm>
            <a:off x="7335594" y="437997"/>
            <a:ext cx="783162" cy="592287"/>
            <a:chOff x="999536" y="3806450"/>
            <a:chExt cx="385092" cy="340219"/>
          </a:xfrm>
        </p:grpSpPr>
        <p:sp>
          <p:nvSpPr>
            <p:cNvPr id="87" name="Google Shape;87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90" name="Google Shape;90;p13"/>
          <p:cNvSpPr txBox="1"/>
          <p:nvPr/>
        </p:nvSpPr>
        <p:spPr>
          <a:xfrm>
            <a:off x="7391388" y="47263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By: Matija Benko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74300" y="159425"/>
            <a:ext cx="9069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Bringing Jazz Back Home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0" y="700625"/>
            <a:ext cx="9144000" cy="41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Maurice Ravel related w/ Les Six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Société Musicale Indépendante(Independent Musical Society) promoted Copeland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WWI Constrained Ravel’s creativity(slow to conducting, but had best works)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French ambassador(guaranteed minimum fee of $10,000) thru US &amp; Canada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met Douglas Fairbanks Sr. &amp; lecture-recital 4 Pro Musica Society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listeners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Encore of “Blues” movement</a:t>
            </a:r>
            <a:endParaRPr sz="2000"/>
          </a:p>
        </p:txBody>
      </p:sp>
      <p:pic>
        <p:nvPicPr>
          <p:cNvPr id="97" name="Google Shape;97;p14" title="Screenshot 2025-09-16 at 7.36.48 PM.png"/>
          <p:cNvPicPr preferRelativeResize="0"/>
          <p:nvPr/>
        </p:nvPicPr>
        <p:blipFill rotWithShape="1">
          <a:blip r:embed="rId3">
            <a:alphaModFix/>
          </a:blip>
          <a:srcRect b="26215" l="0" r="0" t="0"/>
          <a:stretch/>
        </p:blipFill>
        <p:spPr>
          <a:xfrm>
            <a:off x="4083025" y="3200950"/>
            <a:ext cx="1562675" cy="184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ncore (move) - Bulbapedia, the ..." id="98" name="Google Shape;9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525" y="3588507"/>
            <a:ext cx="761175" cy="42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74300" y="159425"/>
            <a:ext cx="90696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Georgia"/>
                <a:ea typeface="Georgia"/>
                <a:cs typeface="Georgia"/>
                <a:sym typeface="Georgia"/>
              </a:rPr>
              <a:t>LISTENING COMPANION 13: Violin Sonata [No. 2], Mvt. II: “Blues” (1927) – Maurice Ravel</a:t>
            </a:r>
            <a:endParaRPr b="1" sz="2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0" y="856925"/>
            <a:ext cx="9144000" cy="40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Thought piano &amp; violin were incompatible(Kept them </a:t>
            </a:r>
            <a:r>
              <a:rPr lang="en" sz="2000"/>
              <a:t>separate)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each hand of piano is separate(more of a trio)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Violin starts &amp; plucking chords(guitar)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interrupts steadiness</a:t>
            </a:r>
            <a:r>
              <a:rPr lang="en" sz="2000"/>
              <a:t> by</a:t>
            </a:r>
            <a:r>
              <a:rPr lang="en" sz="2000"/>
              <a:t> shifting</a:t>
            </a:r>
            <a:r>
              <a:rPr lang="en" sz="2000"/>
              <a:t> to</a:t>
            </a:r>
            <a:r>
              <a:rPr lang="en" sz="2000"/>
              <a:t> new harmonies &amp; sudden dynamic contrasts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No 12-bar but has its I IV &amp; V harmonies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piano’s left introduces a perfect 5th interval for eight counts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short, bluesy riff on right, then violin kind of merges with piano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Ending w/ call-and-response</a:t>
            </a:r>
            <a:endParaRPr sz="2000"/>
          </a:p>
        </p:txBody>
      </p:sp>
      <p:pic>
        <p:nvPicPr>
          <p:cNvPr id="105" name="Google Shape;105;p15" title="Screenshot 2025-09-16 at 7.54.41 PM.png"/>
          <p:cNvPicPr preferRelativeResize="0"/>
          <p:nvPr/>
        </p:nvPicPr>
        <p:blipFill rotWithShape="1">
          <a:blip r:embed="rId3">
            <a:alphaModFix/>
          </a:blip>
          <a:srcRect b="8726" l="2480" r="1733" t="5125"/>
          <a:stretch/>
        </p:blipFill>
        <p:spPr>
          <a:xfrm>
            <a:off x="4249400" y="3737075"/>
            <a:ext cx="3042314" cy="140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6" title="Screenshot 2025-09-16 at 7.39.0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8024" y="770325"/>
            <a:ext cx="4333600" cy="321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vided to YouTube by Warner Classics&#10;&#10;Violin Sonata No. 2 in G Major, M. 77: II. Blues. Moderato · Renaud Capuçon · Frank Braley&#10;&#10;Ravel - Chamber Music&#10;&#10;℗ 2001 Erato/Warner Classics, Warner Music UK Ltd&#10;&#10;Producer: Alain Lanceron&#10;Producer: Etienne Collard&#10;Engineer: Frédéric Briant&#10;Piano: Frank Braley&#10;Violin: Renaud Capuçon&#10;Composer: Maurice Ravel&#10;&#10;Auto-generated by YouTube." id="111" name="Google Shape;111;p16" title="Violin Sonata No. 2 in G Major, M. 77: II. Blues. Moderat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4237" y="1154350"/>
            <a:ext cx="4593800" cy="258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/>
              <a:t>Thank You!</a:t>
            </a:r>
            <a:endParaRPr sz="15500"/>
          </a:p>
        </p:txBody>
      </p:sp>
      <p:pic>
        <p:nvPicPr>
          <p:cNvPr id="117" name="Google Shape;117;p17"/>
          <p:cNvPicPr preferRelativeResize="0"/>
          <p:nvPr/>
        </p:nvPicPr>
        <p:blipFill rotWithShape="1">
          <a:blip r:embed="rId3">
            <a:alphaModFix/>
          </a:blip>
          <a:srcRect b="0" l="9302" r="9310" t="0"/>
          <a:stretch/>
        </p:blipFill>
        <p:spPr>
          <a:xfrm>
            <a:off x="5111650" y="2290700"/>
            <a:ext cx="2852726" cy="262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121212"/>
      </a:dk1>
      <a:lt1>
        <a:srgbClr val="FFFFFF"/>
      </a:lt1>
      <a:dk2>
        <a:srgbClr val="434343"/>
      </a:dk2>
      <a:lt2>
        <a:srgbClr val="999999"/>
      </a:lt2>
      <a:accent1>
        <a:srgbClr val="7A7A7A"/>
      </a:accent1>
      <a:accent2>
        <a:srgbClr val="D8D8D8"/>
      </a:accent2>
      <a:accent3>
        <a:srgbClr val="7A7A7A"/>
      </a:accent3>
      <a:accent4>
        <a:srgbClr val="8B8A8A"/>
      </a:accent4>
      <a:accent5>
        <a:srgbClr val="535353"/>
      </a:accent5>
      <a:accent6>
        <a:srgbClr val="525252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